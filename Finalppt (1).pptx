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3"/>
  </p:notesMasterIdLst>
  <p:sldIdLst>
    <p:sldId id="256" r:id="rId2"/>
    <p:sldId id="258" r:id="rId3"/>
    <p:sldId id="272" r:id="rId4"/>
    <p:sldId id="271" r:id="rId5"/>
    <p:sldId id="281" r:id="rId6"/>
    <p:sldId id="270" r:id="rId7"/>
    <p:sldId id="269" r:id="rId8"/>
    <p:sldId id="291" r:id="rId9"/>
    <p:sldId id="275" r:id="rId10"/>
    <p:sldId id="267" r:id="rId11"/>
    <p:sldId id="293" r:id="rId12"/>
    <p:sldId id="294" r:id="rId13"/>
    <p:sldId id="266" r:id="rId14"/>
    <p:sldId id="287" r:id="rId15"/>
    <p:sldId id="289" r:id="rId16"/>
    <p:sldId id="290" r:id="rId17"/>
    <p:sldId id="284" r:id="rId18"/>
    <p:sldId id="285" r:id="rId19"/>
    <p:sldId id="286" r:id="rId20"/>
    <p:sldId id="273" r:id="rId21"/>
    <p:sldId id="296" r:id="rId22"/>
    <p:sldId id="299" r:id="rId23"/>
    <p:sldId id="300" r:id="rId24"/>
    <p:sldId id="304" r:id="rId25"/>
    <p:sldId id="305" r:id="rId26"/>
    <p:sldId id="302" r:id="rId27"/>
    <p:sldId id="303" r:id="rId28"/>
    <p:sldId id="309" r:id="rId29"/>
    <p:sldId id="265" r:id="rId30"/>
    <p:sldId id="261" r:id="rId31"/>
    <p:sldId id="274"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59F266B-36CB-4D9D-AE57-59D7CF6580A0}">
          <p14:sldIdLst>
            <p14:sldId id="256"/>
            <p14:sldId id="258"/>
            <p14:sldId id="272"/>
            <p14:sldId id="271"/>
            <p14:sldId id="281"/>
            <p14:sldId id="270"/>
            <p14:sldId id="269"/>
            <p14:sldId id="291"/>
            <p14:sldId id="275"/>
            <p14:sldId id="267"/>
            <p14:sldId id="293"/>
            <p14:sldId id="294"/>
            <p14:sldId id="266"/>
            <p14:sldId id="287"/>
            <p14:sldId id="289"/>
            <p14:sldId id="290"/>
            <p14:sldId id="284"/>
            <p14:sldId id="285"/>
            <p14:sldId id="286"/>
            <p14:sldId id="273"/>
            <p14:sldId id="296"/>
            <p14:sldId id="299"/>
            <p14:sldId id="300"/>
            <p14:sldId id="304"/>
            <p14:sldId id="305"/>
            <p14:sldId id="302"/>
            <p14:sldId id="303"/>
            <p14:sldId id="309"/>
            <p14:sldId id="265"/>
            <p14:sldId id="261"/>
            <p14:sldId id="274"/>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BBDDDD"/>
    <a:srgbClr val="E8D1FF"/>
    <a:srgbClr val="DDD9D7"/>
    <a:srgbClr val="4472C4"/>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53" autoAdjust="0"/>
    <p:restoredTop sz="94660"/>
  </p:normalViewPr>
  <p:slideViewPr>
    <p:cSldViewPr snapToGrid="0" showGuides="1">
      <p:cViewPr varScale="1">
        <p:scale>
          <a:sx n="82" d="100"/>
          <a:sy n="82" d="100"/>
        </p:scale>
        <p:origin x="1440"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4FF58-00DF-4DE4-BB64-AE1BFEDEDC2E}" type="datetimeFigureOut">
              <a:rPr lang="en-IN" smtClean="0"/>
              <a:t>02-10-2026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548EC5-E2F7-4FD4-A9C7-2386A56B2BF8}" type="slidenum">
              <a:rPr lang="en-IN" smtClean="0"/>
              <a:t>‹#›</a:t>
            </a:fld>
            <a:endParaRPr lang="en-IN"/>
          </a:p>
        </p:txBody>
      </p:sp>
    </p:spTree>
    <p:extLst>
      <p:ext uri="{BB962C8B-B14F-4D97-AF65-F5344CB8AC3E}">
        <p14:creationId xmlns:p14="http://schemas.microsoft.com/office/powerpoint/2010/main" val="3233105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37BAE-F719-6106-005C-78E9E13EE5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FAE08-6CE7-02D1-BFE1-D09B497EB8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499D3A-48D0-E072-12FB-B128C13CB9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1A9A4E-0994-9ABD-73F1-0EEBD6BA7C1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228646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5D0D9D-CA2D-4B41-ACE1-238B22F0BA66}" type="datetime1">
              <a:rPr lang="en-IN" smtClean="0"/>
              <a:t>02-10-2026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3669FF-A95B-4CED-B2F5-060587381DD8}" type="slidenum">
              <a:rPr lang="en-IN" smtClean="0"/>
              <a:t>‹#›</a:t>
            </a:fld>
            <a:endParaRPr lang="en-IN"/>
          </a:p>
        </p:txBody>
      </p:sp>
    </p:spTree>
    <p:extLst>
      <p:ext uri="{BB962C8B-B14F-4D97-AF65-F5344CB8AC3E}">
        <p14:creationId xmlns:p14="http://schemas.microsoft.com/office/powerpoint/2010/main" val="58239608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F57B81-41AB-4130-AFBA-8E17A59B3896}" type="datetime1">
              <a:rPr lang="en-IN" smtClean="0"/>
              <a:t>02-10-2026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3669FF-A95B-4CED-B2F5-060587381DD8}" type="slidenum">
              <a:rPr lang="en-IN" smtClean="0"/>
              <a:t>‹#›</a:t>
            </a:fld>
            <a:endParaRPr lang="en-IN"/>
          </a:p>
        </p:txBody>
      </p:sp>
    </p:spTree>
    <p:extLst>
      <p:ext uri="{BB962C8B-B14F-4D97-AF65-F5344CB8AC3E}">
        <p14:creationId xmlns:p14="http://schemas.microsoft.com/office/powerpoint/2010/main" val="3439741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EA5F8F4-5304-4176-93C6-27C54EE25751}" type="datetime1">
              <a:rPr lang="en-IN" smtClean="0"/>
              <a:t>02-10-2026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3669FF-A95B-4CED-B2F5-060587381DD8}" type="slidenum">
              <a:rPr lang="en-IN" smtClean="0"/>
              <a:t>‹#›</a:t>
            </a:fld>
            <a:endParaRPr lang="en-IN"/>
          </a:p>
        </p:txBody>
      </p:sp>
    </p:spTree>
    <p:extLst>
      <p:ext uri="{BB962C8B-B14F-4D97-AF65-F5344CB8AC3E}">
        <p14:creationId xmlns:p14="http://schemas.microsoft.com/office/powerpoint/2010/main" val="3655249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203CD2-1FE9-41EB-BFB9-AD6F8FF47B87}" type="datetime1">
              <a:rPr lang="en-IN" smtClean="0"/>
              <a:t>02-10-2026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3669FF-A95B-4CED-B2F5-060587381DD8}" type="slidenum">
              <a:rPr lang="en-IN" smtClean="0"/>
              <a:t>‹#›</a:t>
            </a:fld>
            <a:endParaRPr lang="en-IN"/>
          </a:p>
        </p:txBody>
      </p:sp>
    </p:spTree>
    <p:extLst>
      <p:ext uri="{BB962C8B-B14F-4D97-AF65-F5344CB8AC3E}">
        <p14:creationId xmlns:p14="http://schemas.microsoft.com/office/powerpoint/2010/main" val="491784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BE3144-F022-4024-8AB7-3AD09A9C8BF6}" type="datetime1">
              <a:rPr lang="en-IN" smtClean="0"/>
              <a:t>02-10-2026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E3669FF-A95B-4CED-B2F5-060587381DD8}" type="slidenum">
              <a:rPr lang="en-IN" smtClean="0"/>
              <a:t>‹#›</a:t>
            </a:fld>
            <a:endParaRPr lang="en-IN"/>
          </a:p>
        </p:txBody>
      </p:sp>
    </p:spTree>
    <p:extLst>
      <p:ext uri="{BB962C8B-B14F-4D97-AF65-F5344CB8AC3E}">
        <p14:creationId xmlns:p14="http://schemas.microsoft.com/office/powerpoint/2010/main" val="4276086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2928B0-CCFC-4380-B3A5-0AD9A2B89E2C}" type="datetime1">
              <a:rPr lang="en-IN" smtClean="0"/>
              <a:t>02-10-2026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E3669FF-A95B-4CED-B2F5-060587381DD8}" type="slidenum">
              <a:rPr lang="en-IN" smtClean="0"/>
              <a:t>‹#›</a:t>
            </a:fld>
            <a:endParaRPr lang="en-IN"/>
          </a:p>
        </p:txBody>
      </p:sp>
    </p:spTree>
    <p:extLst>
      <p:ext uri="{BB962C8B-B14F-4D97-AF65-F5344CB8AC3E}">
        <p14:creationId xmlns:p14="http://schemas.microsoft.com/office/powerpoint/2010/main" val="1098699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C82108-5D28-4683-BF41-75892EB4AFB0}" type="datetime1">
              <a:rPr lang="en-IN" smtClean="0"/>
              <a:t>02-10-2026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E3669FF-A95B-4CED-B2F5-060587381DD8}" type="slidenum">
              <a:rPr lang="en-IN" smtClean="0"/>
              <a:t>‹#›</a:t>
            </a:fld>
            <a:endParaRPr lang="en-IN"/>
          </a:p>
        </p:txBody>
      </p:sp>
    </p:spTree>
    <p:extLst>
      <p:ext uri="{BB962C8B-B14F-4D97-AF65-F5344CB8AC3E}">
        <p14:creationId xmlns:p14="http://schemas.microsoft.com/office/powerpoint/2010/main" val="1867503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76FB9FB-B284-4F80-A0DB-1A9805793D30}" type="datetime1">
              <a:rPr lang="en-IN" smtClean="0"/>
              <a:t>02-10-2026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3669FF-A95B-4CED-B2F5-060587381DD8}" type="slidenum">
              <a:rPr lang="en-IN" smtClean="0"/>
              <a:t>‹#›</a:t>
            </a:fld>
            <a:endParaRPr lang="en-IN"/>
          </a:p>
        </p:txBody>
      </p:sp>
    </p:spTree>
    <p:extLst>
      <p:ext uri="{BB962C8B-B14F-4D97-AF65-F5344CB8AC3E}">
        <p14:creationId xmlns:p14="http://schemas.microsoft.com/office/powerpoint/2010/main" val="138722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9D694C-1DA9-46D7-9EE0-99C69AA20E9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1283491" y="-1283490"/>
            <a:ext cx="6577017" cy="9144001"/>
          </a:xfrm>
          <a:prstGeom prst="rect">
            <a:avLst/>
          </a:prstGeom>
        </p:spPr>
      </p:pic>
      <p:sp>
        <p:nvSpPr>
          <p:cNvPr id="4" name="Date Placeholder 3">
            <a:extLst>
              <a:ext uri="{FF2B5EF4-FFF2-40B4-BE49-F238E27FC236}">
                <a16:creationId xmlns:a16="http://schemas.microsoft.com/office/drawing/2014/main" id="{E2BF69BA-5373-435B-BDAF-2455230B8961}"/>
              </a:ext>
            </a:extLst>
          </p:cNvPr>
          <p:cNvSpPr>
            <a:spLocks noGrp="1"/>
          </p:cNvSpPr>
          <p:nvPr>
            <p:ph type="dt" sz="half" idx="10"/>
          </p:nvPr>
        </p:nvSpPr>
        <p:spPr/>
        <p:txBody>
          <a:bodyPr/>
          <a:lstStyle/>
          <a:p>
            <a:fld id="{91DA9F77-DA53-43D7-9593-07DEC79472AF}" type="datetime1">
              <a:rPr lang="en-IN" smtClean="0"/>
              <a:t>02-10-2026</a:t>
            </a:fld>
            <a:endParaRPr lang="en-IN"/>
          </a:p>
        </p:txBody>
      </p:sp>
      <p:sp>
        <p:nvSpPr>
          <p:cNvPr id="5" name="Footer Placeholder 4">
            <a:extLst>
              <a:ext uri="{FF2B5EF4-FFF2-40B4-BE49-F238E27FC236}">
                <a16:creationId xmlns:a16="http://schemas.microsoft.com/office/drawing/2014/main" id="{0E795FF9-2A26-4421-8A4F-38B8DB4B04FC}"/>
              </a:ext>
            </a:extLst>
          </p:cNvPr>
          <p:cNvSpPr>
            <a:spLocks noGrp="1"/>
          </p:cNvSpPr>
          <p:nvPr>
            <p:ph type="ftr" sz="quarter" idx="11"/>
          </p:nvPr>
        </p:nvSpPr>
        <p:spPr/>
        <p:txBody>
          <a:bodyPr/>
          <a:lstStyle/>
          <a:p>
            <a:r>
              <a:rPr lang="en-US" dirty="0"/>
              <a:t>Page No</a:t>
            </a:r>
            <a:endParaRPr lang="en-IN" dirty="0"/>
          </a:p>
        </p:txBody>
      </p:sp>
      <p:sp>
        <p:nvSpPr>
          <p:cNvPr id="11" name="Rectangle 10">
            <a:extLst>
              <a:ext uri="{FF2B5EF4-FFF2-40B4-BE49-F238E27FC236}">
                <a16:creationId xmlns:a16="http://schemas.microsoft.com/office/drawing/2014/main" id="{1F20AE23-FA94-4EB2-A039-8FBDE90C3680}"/>
              </a:ext>
            </a:extLst>
          </p:cNvPr>
          <p:cNvSpPr/>
          <p:nvPr userDrawn="1"/>
        </p:nvSpPr>
        <p:spPr>
          <a:xfrm>
            <a:off x="0" y="6492874"/>
            <a:ext cx="9144000" cy="36512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6" name="Slide Number Placeholder 5">
            <a:extLst>
              <a:ext uri="{FF2B5EF4-FFF2-40B4-BE49-F238E27FC236}">
                <a16:creationId xmlns:a16="http://schemas.microsoft.com/office/drawing/2014/main" id="{F5BE12F2-F474-4806-8CF0-134B2ADA92E0}"/>
              </a:ext>
            </a:extLst>
          </p:cNvPr>
          <p:cNvSpPr>
            <a:spLocks noGrp="1"/>
          </p:cNvSpPr>
          <p:nvPr>
            <p:ph type="sldNum" sz="quarter" idx="12"/>
          </p:nvPr>
        </p:nvSpPr>
        <p:spPr>
          <a:xfrm>
            <a:off x="8515350" y="6521449"/>
            <a:ext cx="427314" cy="320676"/>
          </a:xfrm>
        </p:spPr>
        <p:txBody>
          <a:bodyPr/>
          <a:lstStyle>
            <a:lvl1pPr>
              <a:defRPr sz="1600" b="1">
                <a:solidFill>
                  <a:schemeClr val="bg1"/>
                </a:solidFill>
              </a:defRPr>
            </a:lvl1pPr>
          </a:lstStyle>
          <a:p>
            <a:fld id="{1E3669FF-A95B-4CED-B2F5-060587381DD8}" type="slidenum">
              <a:rPr lang="en-IN" smtClean="0"/>
              <a:pPr/>
              <a:t>‹#›</a:t>
            </a:fld>
            <a:endParaRPr lang="en-IN" dirty="0"/>
          </a:p>
        </p:txBody>
      </p:sp>
      <p:pic>
        <p:nvPicPr>
          <p:cNvPr id="7" name="Picture 6">
            <a:extLst>
              <a:ext uri="{FF2B5EF4-FFF2-40B4-BE49-F238E27FC236}">
                <a16:creationId xmlns:a16="http://schemas.microsoft.com/office/drawing/2014/main" id="{EB61991E-6F8A-45D8-BE40-76AA9282713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6786" y="-144454"/>
            <a:ext cx="2325878" cy="1644955"/>
          </a:xfrm>
          <a:prstGeom prst="rect">
            <a:avLst/>
          </a:prstGeom>
        </p:spPr>
      </p:pic>
    </p:spTree>
    <p:extLst>
      <p:ext uri="{BB962C8B-B14F-4D97-AF65-F5344CB8AC3E}">
        <p14:creationId xmlns:p14="http://schemas.microsoft.com/office/powerpoint/2010/main" val="2298799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C0A939-8D68-4C36-9AA9-A0280CE971B2}" type="datetime1">
              <a:rPr lang="en-IN" smtClean="0"/>
              <a:t>02-10-2026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3669FF-A95B-4CED-B2F5-060587381DD8}" type="slidenum">
              <a:rPr lang="en-IN" smtClean="0"/>
              <a:t>‹#›</a:t>
            </a:fld>
            <a:endParaRPr lang="en-IN"/>
          </a:p>
        </p:txBody>
      </p:sp>
    </p:spTree>
    <p:extLst>
      <p:ext uri="{BB962C8B-B14F-4D97-AF65-F5344CB8AC3E}">
        <p14:creationId xmlns:p14="http://schemas.microsoft.com/office/powerpoint/2010/main" val="3727919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FEF7BF-195D-4B89-947F-29D948FC57B0}" type="datetime1">
              <a:rPr lang="en-IN" smtClean="0"/>
              <a:t>02-10-2026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3669FF-A95B-4CED-B2F5-060587381DD8}" type="slidenum">
              <a:rPr lang="en-IN" smtClean="0"/>
              <a:t>‹#›</a:t>
            </a:fld>
            <a:endParaRPr lang="en-IN"/>
          </a:p>
        </p:txBody>
      </p:sp>
    </p:spTree>
    <p:extLst>
      <p:ext uri="{BB962C8B-B14F-4D97-AF65-F5344CB8AC3E}">
        <p14:creationId xmlns:p14="http://schemas.microsoft.com/office/powerpoint/2010/main" val="2483405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1ED91D-E801-425D-8405-0DB015C52ED9}" type="datetime1">
              <a:rPr lang="en-IN" smtClean="0"/>
              <a:t>02-10-2026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3669FF-A95B-4CED-B2F5-060587381DD8}" type="slidenum">
              <a:rPr lang="en-IN" smtClean="0"/>
              <a:t>‹#›</a:t>
            </a:fld>
            <a:endParaRPr lang="en-IN"/>
          </a:p>
        </p:txBody>
      </p:sp>
    </p:spTree>
    <p:extLst>
      <p:ext uri="{BB962C8B-B14F-4D97-AF65-F5344CB8AC3E}">
        <p14:creationId xmlns:p14="http://schemas.microsoft.com/office/powerpoint/2010/main" val="16191825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5766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5D0D9D-CA2D-4B41-ACE1-238B22F0BA66}" type="datetime1">
              <a:rPr lang="en-IN" smtClean="0"/>
              <a:t>02-10-2026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3669FF-A95B-4CED-B2F5-060587381DD8}" type="slidenum">
              <a:rPr lang="en-IN" smtClean="0"/>
              <a:t>‹#›</a:t>
            </a:fld>
            <a:endParaRPr lang="en-IN"/>
          </a:p>
        </p:txBody>
      </p:sp>
    </p:spTree>
    <p:extLst>
      <p:ext uri="{BB962C8B-B14F-4D97-AF65-F5344CB8AC3E}">
        <p14:creationId xmlns:p14="http://schemas.microsoft.com/office/powerpoint/2010/main" val="41103416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2" r:id="rId9"/>
    <p:sldLayoutId id="2147483669" r:id="rId10"/>
    <p:sldLayoutId id="2147483670" r:id="rId11"/>
    <p:sldLayoutId id="2147483671" r:id="rId12"/>
    <p:sldLayoutId id="214748367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9.xml"/><Relationship Id="rId4" Type="http://schemas.openxmlformats.org/officeDocument/2006/relationships/image" Target="../media/image25.jpeg"/></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233DF9B-B01A-4D55-8156-78342A557098}"/>
              </a:ext>
            </a:extLst>
          </p:cNvPr>
          <p:cNvSpPr txBox="1"/>
          <p:nvPr/>
        </p:nvSpPr>
        <p:spPr>
          <a:xfrm>
            <a:off x="1571625" y="422875"/>
            <a:ext cx="6000750" cy="5704895"/>
          </a:xfrm>
          <a:prstGeom prst="rect">
            <a:avLst/>
          </a:prstGeom>
          <a:noFill/>
        </p:spPr>
        <p:txBody>
          <a:bodyPr wrap="square" rtlCol="0">
            <a:spAutoFit/>
          </a:bodyPr>
          <a:lstStyle/>
          <a:p>
            <a:pPr lvl="0" algn="ctr">
              <a:lnSpc>
                <a:spcPct val="120000"/>
              </a:lnSpc>
            </a:pPr>
            <a:r>
              <a:rPr lang="en-US" sz="2800" b="1" dirty="0">
                <a:solidFill>
                  <a:srgbClr val="0070C0"/>
                </a:solidFill>
                <a:sym typeface="+mn-ea"/>
              </a:rPr>
              <a:t>Project Review-3</a:t>
            </a:r>
          </a:p>
          <a:p>
            <a:pPr lvl="0" algn="ctr">
              <a:lnSpc>
                <a:spcPct val="120000"/>
              </a:lnSpc>
            </a:pPr>
            <a:endParaRPr lang="en-US" sz="100" i="1" dirty="0">
              <a:sym typeface="+mn-ea"/>
            </a:endParaRPr>
          </a:p>
          <a:p>
            <a:pPr lvl="0" algn="ctr">
              <a:lnSpc>
                <a:spcPct val="120000"/>
              </a:lnSpc>
            </a:pPr>
            <a:r>
              <a:rPr lang="en-US" b="1" i="1" dirty="0">
                <a:sym typeface="+mn-ea"/>
              </a:rPr>
              <a:t>On</a:t>
            </a:r>
          </a:p>
          <a:p>
            <a:pPr lvl="0" algn="ctr">
              <a:lnSpc>
                <a:spcPct val="120000"/>
              </a:lnSpc>
            </a:pPr>
            <a:endParaRPr lang="en-US" sz="2000" b="1" i="1" dirty="0">
              <a:solidFill>
                <a:srgbClr val="FF0000"/>
              </a:solidFill>
              <a:latin typeface="Times New Roman" panose="02020603050405020304" pitchFamily="18" charset="0"/>
              <a:cs typeface="Times New Roman" panose="02020603050405020304" pitchFamily="18" charset="0"/>
              <a:sym typeface="+mn-ea"/>
            </a:endParaRPr>
          </a:p>
          <a:p>
            <a:pPr lvl="0" algn="ctr">
              <a:lnSpc>
                <a:spcPct val="120000"/>
              </a:lnSpc>
            </a:pPr>
            <a:r>
              <a:rPr lang="en-US" sz="3200" dirty="0">
                <a:solidFill>
                  <a:srgbClr val="FF0000"/>
                </a:solidFill>
                <a:latin typeface="Times New Roman" panose="02020603050405020304" pitchFamily="18" charset="0"/>
                <a:cs typeface="Times New Roman" panose="02020603050405020304" pitchFamily="18" charset="0"/>
              </a:rPr>
              <a:t>UWB-Based Indoor Localization and Tracking System</a:t>
            </a:r>
            <a:endParaRPr lang="en-US" sz="3200" b="1" dirty="0">
              <a:solidFill>
                <a:srgbClr val="FF0000"/>
              </a:solidFill>
              <a:latin typeface="Times New Roman" panose="02020603050405020304" pitchFamily="18" charset="0"/>
              <a:cs typeface="Times New Roman" panose="02020603050405020304" pitchFamily="18" charset="0"/>
              <a:sym typeface="+mn-ea"/>
            </a:endParaRPr>
          </a:p>
          <a:p>
            <a:pPr lvl="0" algn="ctr">
              <a:lnSpc>
                <a:spcPct val="120000"/>
              </a:lnSpc>
            </a:pPr>
            <a:endParaRPr lang="en-US" sz="3200" b="1" dirty="0">
              <a:solidFill>
                <a:srgbClr val="0070C0"/>
              </a:solidFill>
              <a:sym typeface="+mn-ea"/>
            </a:endParaRPr>
          </a:p>
          <a:p>
            <a:pPr lvl="0" algn="ctr">
              <a:lnSpc>
                <a:spcPct val="120000"/>
              </a:lnSpc>
            </a:pPr>
            <a:r>
              <a:rPr lang="en-US" i="1" u="sng" dirty="0">
                <a:sym typeface="Arial" panose="020B0604020202020204"/>
              </a:rPr>
              <a:t>by</a:t>
            </a:r>
          </a:p>
          <a:p>
            <a:pPr lvl="0" algn="ctr">
              <a:lnSpc>
                <a:spcPct val="120000"/>
              </a:lnSpc>
            </a:pPr>
            <a:r>
              <a:rPr lang="en-IN" b="1" dirty="0">
                <a:solidFill>
                  <a:srgbClr val="0070C0"/>
                </a:solidFill>
                <a:sym typeface="+mn-ea"/>
              </a:rPr>
              <a:t>Ambar Roy </a:t>
            </a:r>
            <a:r>
              <a:rPr lang="en-IN" b="1" dirty="0">
                <a:sym typeface="+mn-ea"/>
              </a:rPr>
              <a:t>(</a:t>
            </a:r>
            <a:r>
              <a:rPr lang="en-US" altLang="en-IN" b="1" dirty="0">
                <a:sym typeface="+mn-ea"/>
              </a:rPr>
              <a:t>RA2211004010332</a:t>
            </a:r>
            <a:r>
              <a:rPr lang="en-IN" b="1" dirty="0">
                <a:sym typeface="+mn-ea"/>
              </a:rPr>
              <a:t>)</a:t>
            </a:r>
            <a:br>
              <a:rPr lang="en-US" b="1" dirty="0">
                <a:sym typeface="+mn-ea"/>
              </a:rPr>
            </a:br>
            <a:r>
              <a:rPr lang="en-IN" b="1" dirty="0">
                <a:solidFill>
                  <a:srgbClr val="0070C0"/>
                </a:solidFill>
                <a:sym typeface="+mn-ea"/>
              </a:rPr>
              <a:t>Shubham Ranjan</a:t>
            </a:r>
            <a:r>
              <a:rPr lang="fi-FI" b="1" dirty="0">
                <a:solidFill>
                  <a:srgbClr val="0070C0"/>
                </a:solidFill>
                <a:sym typeface="+mn-ea"/>
              </a:rPr>
              <a:t> </a:t>
            </a:r>
            <a:r>
              <a:rPr lang="fi-FI" b="1" dirty="0">
                <a:sym typeface="+mn-ea"/>
              </a:rPr>
              <a:t>(</a:t>
            </a:r>
            <a:r>
              <a:rPr lang="en-US" altLang="en-IN" b="1" dirty="0">
                <a:sym typeface="+mn-ea"/>
              </a:rPr>
              <a:t>RA2211004010346</a:t>
            </a:r>
            <a:r>
              <a:rPr lang="fi-FI" b="1" dirty="0">
                <a:sym typeface="+mn-ea"/>
              </a:rPr>
              <a:t>)</a:t>
            </a:r>
            <a:endParaRPr lang="fi-FI" b="1" dirty="0"/>
          </a:p>
          <a:p>
            <a:pPr lvl="0" algn="ctr">
              <a:lnSpc>
                <a:spcPct val="120000"/>
              </a:lnSpc>
            </a:pPr>
            <a:r>
              <a:rPr lang="en-IN" b="1" dirty="0">
                <a:solidFill>
                  <a:srgbClr val="0070C0"/>
                </a:solidFill>
                <a:sym typeface="+mn-ea"/>
              </a:rPr>
              <a:t>Kshitij Srivastava </a:t>
            </a:r>
            <a:r>
              <a:rPr lang="en-IN" b="1" dirty="0">
                <a:sym typeface="+mn-ea"/>
              </a:rPr>
              <a:t>(</a:t>
            </a:r>
            <a:r>
              <a:rPr lang="en-US" altLang="en-IN" b="1" dirty="0">
                <a:sym typeface="+mn-ea"/>
              </a:rPr>
              <a:t>RA2211004010344</a:t>
            </a:r>
            <a:r>
              <a:rPr lang="en-IN" dirty="0">
                <a:sym typeface="+mn-ea"/>
              </a:rPr>
              <a:t>)</a:t>
            </a:r>
          </a:p>
          <a:p>
            <a:pPr lvl="0" algn="ctr">
              <a:lnSpc>
                <a:spcPct val="120000"/>
              </a:lnSpc>
            </a:pPr>
            <a:endParaRPr lang="en-US" sz="2000" dirty="0"/>
          </a:p>
          <a:p>
            <a:pPr lvl="0" algn="ctr">
              <a:lnSpc>
                <a:spcPct val="120000"/>
              </a:lnSpc>
            </a:pPr>
            <a:r>
              <a:rPr lang="en-US" sz="1600" i="1" dirty="0">
                <a:sym typeface="+mn-ea"/>
              </a:rPr>
              <a:t>Supervisor Name &amp; Designation</a:t>
            </a:r>
            <a:endParaRPr lang="en-US" sz="1400" i="1" dirty="0"/>
          </a:p>
          <a:p>
            <a:pPr lvl="0" algn="ctr">
              <a:lnSpc>
                <a:spcPct val="120000"/>
              </a:lnSpc>
            </a:pPr>
            <a:r>
              <a:rPr lang="en-US" b="1" dirty="0">
                <a:solidFill>
                  <a:srgbClr val="C00000"/>
                </a:solidFill>
              </a:rPr>
              <a:t>Dr. J. Subhashini</a:t>
            </a:r>
          </a:p>
          <a:p>
            <a:pPr lvl="0" algn="ctr">
              <a:lnSpc>
                <a:spcPct val="120000"/>
              </a:lnSpc>
            </a:pPr>
            <a:r>
              <a:rPr lang="en-US" sz="1600" dirty="0">
                <a:sym typeface="+mn-ea"/>
              </a:rPr>
              <a:t>Associate Professor, Department of ECE</a:t>
            </a:r>
            <a:endParaRPr lang="en-IN" dirty="0"/>
          </a:p>
        </p:txBody>
      </p:sp>
    </p:spTree>
    <p:extLst>
      <p:ext uri="{BB962C8B-B14F-4D97-AF65-F5344CB8AC3E}">
        <p14:creationId xmlns:p14="http://schemas.microsoft.com/office/powerpoint/2010/main" val="335110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D22001-80BB-4F81-A43E-428580F5FEEE}"/>
              </a:ext>
            </a:extLst>
          </p:cNvPr>
          <p:cNvSpPr>
            <a:spLocks noGrp="1"/>
          </p:cNvSpPr>
          <p:nvPr>
            <p:ph type="sldNum" sz="quarter" idx="12"/>
          </p:nvPr>
        </p:nvSpPr>
        <p:spPr/>
        <p:txBody>
          <a:bodyPr/>
          <a:lstStyle/>
          <a:p>
            <a:fld id="{1E3669FF-A95B-4CED-B2F5-060587381DD8}" type="slidenum">
              <a:rPr lang="en-IN" smtClean="0"/>
              <a:t>2</a:t>
            </a:fld>
            <a:endParaRPr lang="en-IN"/>
          </a:p>
        </p:txBody>
      </p:sp>
      <p:sp>
        <p:nvSpPr>
          <p:cNvPr id="3" name="Title 1">
            <a:extLst>
              <a:ext uri="{FF2B5EF4-FFF2-40B4-BE49-F238E27FC236}">
                <a16:creationId xmlns:a16="http://schemas.microsoft.com/office/drawing/2014/main" id="{FAE751E0-2BC0-499D-A6DE-A9D6AF15987A}"/>
              </a:ext>
            </a:extLst>
          </p:cNvPr>
          <p:cNvSpPr txBox="1">
            <a:spLocks/>
          </p:cNvSpPr>
          <p:nvPr/>
        </p:nvSpPr>
        <p:spPr>
          <a:xfrm>
            <a:off x="304800" y="304800"/>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Flow of Presentation</a:t>
            </a:r>
          </a:p>
        </p:txBody>
      </p:sp>
      <p:sp>
        <p:nvSpPr>
          <p:cNvPr id="5" name="Text Placeholder 2">
            <a:extLst>
              <a:ext uri="{FF2B5EF4-FFF2-40B4-BE49-F238E27FC236}">
                <a16:creationId xmlns:a16="http://schemas.microsoft.com/office/drawing/2014/main" id="{FE5F6E22-37B3-4FDB-9C6D-F828709B3F38}"/>
              </a:ext>
            </a:extLst>
          </p:cNvPr>
          <p:cNvSpPr txBox="1">
            <a:spLocks/>
          </p:cNvSpPr>
          <p:nvPr/>
        </p:nvSpPr>
        <p:spPr>
          <a:xfrm>
            <a:off x="304800" y="933450"/>
            <a:ext cx="8448675" cy="51530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sz="1800" dirty="0">
                <a:latin typeface="Times New Roman" panose="02020603050405020304" pitchFamily="18" charset="0"/>
                <a:cs typeface="Times New Roman" panose="02020603050405020304" pitchFamily="18" charset="0"/>
              </a:rPr>
              <a:t>Introduction  </a:t>
            </a:r>
          </a:p>
          <a:p>
            <a:pPr marL="285750" indent="-285750"/>
            <a:r>
              <a:rPr lang="en-US" sz="1800" dirty="0">
                <a:latin typeface="Times New Roman" panose="02020603050405020304" pitchFamily="18" charset="0"/>
                <a:cs typeface="Times New Roman" panose="02020603050405020304" pitchFamily="18" charset="0"/>
              </a:rPr>
              <a:t>Literature Survey  </a:t>
            </a:r>
          </a:p>
          <a:p>
            <a:pPr marL="285750" indent="-285750"/>
            <a:r>
              <a:rPr lang="en-US" sz="1800" dirty="0">
                <a:latin typeface="Times New Roman" panose="02020603050405020304" pitchFamily="18" charset="0"/>
                <a:cs typeface="Times New Roman" panose="02020603050405020304" pitchFamily="18" charset="0"/>
              </a:rPr>
              <a:t>Problem Statement</a:t>
            </a:r>
          </a:p>
          <a:p>
            <a:pPr marL="285750" indent="-285750"/>
            <a:r>
              <a:rPr lang="en-US" sz="1800" dirty="0">
                <a:latin typeface="Times New Roman" panose="02020603050405020304" pitchFamily="18" charset="0"/>
                <a:cs typeface="Times New Roman" panose="02020603050405020304" pitchFamily="18" charset="0"/>
              </a:rPr>
              <a:t>Objective</a:t>
            </a:r>
          </a:p>
          <a:p>
            <a:pPr marL="285750" indent="-285750"/>
            <a:r>
              <a:rPr lang="en-US" sz="1800" dirty="0">
                <a:latin typeface="Times New Roman" panose="02020603050405020304" pitchFamily="18" charset="0"/>
                <a:cs typeface="Times New Roman" panose="02020603050405020304" pitchFamily="18" charset="0"/>
              </a:rPr>
              <a:t>Block diagram </a:t>
            </a:r>
          </a:p>
          <a:p>
            <a:pPr marL="285750" indent="-285750"/>
            <a:r>
              <a:rPr lang="en-US" sz="1800" dirty="0">
                <a:latin typeface="Times New Roman" panose="02020603050405020304" pitchFamily="18" charset="0"/>
                <a:cs typeface="Times New Roman" panose="02020603050405020304" pitchFamily="18" charset="0"/>
              </a:rPr>
              <a:t>Design Methodology (Flowchart /Algorithm )</a:t>
            </a:r>
          </a:p>
          <a:p>
            <a:pPr marL="285750" indent="-285750"/>
            <a:r>
              <a:rPr lang="en-US" sz="1800" dirty="0">
                <a:latin typeface="Times New Roman" panose="02020603050405020304" pitchFamily="18" charset="0"/>
                <a:cs typeface="Times New Roman" panose="02020603050405020304" pitchFamily="18" charset="0"/>
              </a:rPr>
              <a:t>Software / Hardware Details </a:t>
            </a:r>
          </a:p>
          <a:p>
            <a:pPr marL="285750" indent="-285750"/>
            <a:r>
              <a:rPr lang="en-US" sz="1800" dirty="0">
                <a:latin typeface="Times New Roman" panose="02020603050405020304" pitchFamily="18" charset="0"/>
                <a:cs typeface="Times New Roman" panose="02020603050405020304" pitchFamily="18" charset="0"/>
              </a:rPr>
              <a:t>Results</a:t>
            </a:r>
          </a:p>
          <a:p>
            <a:pPr marL="285750" indent="-285750"/>
            <a:r>
              <a:rPr lang="en-US" sz="1800" dirty="0">
                <a:latin typeface="Times New Roman" panose="02020603050405020304" pitchFamily="18" charset="0"/>
                <a:cs typeface="Times New Roman" panose="02020603050405020304" pitchFamily="18" charset="0"/>
              </a:rPr>
              <a:t>Project plan</a:t>
            </a:r>
          </a:p>
          <a:p>
            <a:pPr marL="285750" indent="-285750"/>
            <a:r>
              <a:rPr lang="en-US" sz="1800" dirty="0">
                <a:latin typeface="Times New Roman" panose="02020603050405020304" pitchFamily="18" charset="0"/>
                <a:cs typeface="Times New Roman" panose="02020603050405020304" pitchFamily="18" charset="0"/>
              </a:rPr>
              <a:t>Conclusion</a:t>
            </a:r>
          </a:p>
          <a:p>
            <a:pPr marL="285750" indent="-285750"/>
            <a:r>
              <a:rPr lang="en-US" sz="1800" dirty="0">
                <a:latin typeface="Times New Roman" panose="02020603050405020304" pitchFamily="18" charset="0"/>
                <a:cs typeface="Times New Roman" panose="02020603050405020304" pitchFamily="18" charset="0"/>
              </a:rPr>
              <a:t>References</a:t>
            </a:r>
          </a:p>
          <a:p>
            <a:endParaRPr lang="en-US" sz="2000" dirty="0">
              <a:latin typeface="Constantia" panose="02030602050306030303" charset="0"/>
              <a:cs typeface="Constantia" panose="02030602050306030303" charset="0"/>
            </a:endParaRPr>
          </a:p>
        </p:txBody>
      </p:sp>
    </p:spTree>
    <p:extLst>
      <p:ext uri="{BB962C8B-B14F-4D97-AF65-F5344CB8AC3E}">
        <p14:creationId xmlns:p14="http://schemas.microsoft.com/office/powerpoint/2010/main" val="2299270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69F85-E622-6D5E-0140-6EE389AC3AD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44FC39-A2F9-32E9-8A8B-3BF31E91FADC}"/>
              </a:ext>
            </a:extLst>
          </p:cNvPr>
          <p:cNvSpPr>
            <a:spLocks noGrp="1"/>
          </p:cNvSpPr>
          <p:nvPr>
            <p:ph type="sldNum" sz="quarter" idx="12"/>
          </p:nvPr>
        </p:nvSpPr>
        <p:spPr/>
        <p:txBody>
          <a:bodyPr/>
          <a:lstStyle/>
          <a:p>
            <a:fld id="{1E3669FF-A95B-4CED-B2F5-060587381DD8}" type="slidenum">
              <a:rPr lang="en-IN" smtClean="0"/>
              <a:t>3</a:t>
            </a:fld>
            <a:endParaRPr lang="en-IN" dirty="0"/>
          </a:p>
        </p:txBody>
      </p:sp>
      <p:sp>
        <p:nvSpPr>
          <p:cNvPr id="3" name="Title 1">
            <a:extLst>
              <a:ext uri="{FF2B5EF4-FFF2-40B4-BE49-F238E27FC236}">
                <a16:creationId xmlns:a16="http://schemas.microsoft.com/office/drawing/2014/main" id="{1C6B9C45-9F17-C7BB-9351-1082D9506461}"/>
              </a:ext>
            </a:extLst>
          </p:cNvPr>
          <p:cNvSpPr txBox="1">
            <a:spLocks/>
          </p:cNvSpPr>
          <p:nvPr/>
        </p:nvSpPr>
        <p:spPr>
          <a:xfrm>
            <a:off x="304800" y="304800"/>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1. Introduction</a:t>
            </a:r>
          </a:p>
        </p:txBody>
      </p:sp>
      <p:sp>
        <p:nvSpPr>
          <p:cNvPr id="5" name="Text Placeholder 2">
            <a:extLst>
              <a:ext uri="{FF2B5EF4-FFF2-40B4-BE49-F238E27FC236}">
                <a16:creationId xmlns:a16="http://schemas.microsoft.com/office/drawing/2014/main" id="{8387641C-6A18-439F-8AD8-8D39E97010D9}"/>
              </a:ext>
            </a:extLst>
          </p:cNvPr>
          <p:cNvSpPr txBox="1">
            <a:spLocks/>
          </p:cNvSpPr>
          <p:nvPr/>
        </p:nvSpPr>
        <p:spPr>
          <a:xfrm>
            <a:off x="304800" y="1138335"/>
            <a:ext cx="8448675" cy="49481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Indoor localization is a key technology for smart environments such as retail, logistics, warehousing, healthcare, and Industry 4.0.</a:t>
            </a:r>
          </a:p>
          <a:p>
            <a:pPr algn="just">
              <a:lnSpc>
                <a:spcPct val="1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Conventional positioning systems like GPS are ineffective indoors due to signal attenuation and multipath interference.</a:t>
            </a:r>
          </a:p>
          <a:p>
            <a:pPr algn="just">
              <a:lnSpc>
                <a:spcPct val="1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Alternative technologies such as Wi-Fi and Bluetooth Low Energy provide partial indoor localization but suffer from limited accuracy, high infrastructure cost, and energy inefficiency.</a:t>
            </a:r>
          </a:p>
          <a:p>
            <a:pPr algn="just">
              <a:lnSpc>
                <a:spcPct val="1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Ultra-Wideband (UWB) offers centimeter-level positioning accuracy but is limited by short-range coverage.</a:t>
            </a:r>
          </a:p>
          <a:p>
            <a:pPr algn="just">
              <a:lnSpc>
                <a:spcPct val="1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address ensure both coverage and accuracy, this project proposes a hybrid UWB–LoRa Indoor Localization and Tracking System.</a:t>
            </a:r>
          </a:p>
          <a:p>
            <a:pPr algn="just">
              <a:lnSpc>
                <a:spcPct val="1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LoRa enables long-range, low-power communication across large indoor retail spaces.</a:t>
            </a:r>
          </a:p>
          <a:p>
            <a:pPr algn="just">
              <a:lnSpc>
                <a:spcPct val="1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UWB provides high-precision localization within specific product zones and racks.</a:t>
            </a:r>
          </a:p>
          <a:p>
            <a:pPr algn="just">
              <a:lnSpc>
                <a:spcPct val="1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hybrid approach enables a store-wide “indoor GPS” with rack-level product identification, making it suitable for large departmental stores such as IKEA and D-Mart.</a:t>
            </a:r>
          </a:p>
        </p:txBody>
      </p:sp>
    </p:spTree>
    <p:extLst>
      <p:ext uri="{BB962C8B-B14F-4D97-AF65-F5344CB8AC3E}">
        <p14:creationId xmlns:p14="http://schemas.microsoft.com/office/powerpoint/2010/main" val="32836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E7EB0-52F0-F2CA-6367-604894830CE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94328B5-E244-51D1-3273-019DDE72E9F5}"/>
              </a:ext>
            </a:extLst>
          </p:cNvPr>
          <p:cNvSpPr txBox="1">
            <a:spLocks/>
          </p:cNvSpPr>
          <p:nvPr/>
        </p:nvSpPr>
        <p:spPr>
          <a:xfrm>
            <a:off x="304800" y="304800"/>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2. Literature Survey</a:t>
            </a:r>
          </a:p>
        </p:txBody>
      </p:sp>
      <p:sp>
        <p:nvSpPr>
          <p:cNvPr id="5" name="Text Placeholder 2">
            <a:extLst>
              <a:ext uri="{FF2B5EF4-FFF2-40B4-BE49-F238E27FC236}">
                <a16:creationId xmlns:a16="http://schemas.microsoft.com/office/drawing/2014/main" id="{389211DC-9CFE-1A72-5AF1-AC359D1461AD}"/>
              </a:ext>
            </a:extLst>
          </p:cNvPr>
          <p:cNvSpPr txBox="1">
            <a:spLocks/>
          </p:cNvSpPr>
          <p:nvPr/>
        </p:nvSpPr>
        <p:spPr>
          <a:xfrm>
            <a:off x="304800" y="1156995"/>
            <a:ext cx="8448675" cy="49294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sz="18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2DC767EF-9F1F-492B-D126-9AAAA5E35BFC}"/>
              </a:ext>
            </a:extLst>
          </p:cNvPr>
          <p:cNvGraphicFramePr>
            <a:graphicFrameLocks noGrp="1"/>
          </p:cNvGraphicFramePr>
          <p:nvPr>
            <p:extLst>
              <p:ext uri="{D42A27DB-BD31-4B8C-83A1-F6EECF244321}">
                <p14:modId xmlns:p14="http://schemas.microsoft.com/office/powerpoint/2010/main" val="1389174668"/>
              </p:ext>
            </p:extLst>
          </p:nvPr>
        </p:nvGraphicFramePr>
        <p:xfrm>
          <a:off x="212823" y="932155"/>
          <a:ext cx="8855243" cy="5471660"/>
        </p:xfrm>
        <a:graphic>
          <a:graphicData uri="http://schemas.openxmlformats.org/drawingml/2006/table">
            <a:tbl>
              <a:tblPr/>
              <a:tblGrid>
                <a:gridCol w="1878100">
                  <a:extLst>
                    <a:ext uri="{9D8B030D-6E8A-4147-A177-3AD203B41FA5}">
                      <a16:colId xmlns:a16="http://schemas.microsoft.com/office/drawing/2014/main" val="1057481589"/>
                    </a:ext>
                  </a:extLst>
                </a:gridCol>
                <a:gridCol w="2028348">
                  <a:extLst>
                    <a:ext uri="{9D8B030D-6E8A-4147-A177-3AD203B41FA5}">
                      <a16:colId xmlns:a16="http://schemas.microsoft.com/office/drawing/2014/main" val="1551679182"/>
                    </a:ext>
                  </a:extLst>
                </a:gridCol>
                <a:gridCol w="2572998">
                  <a:extLst>
                    <a:ext uri="{9D8B030D-6E8A-4147-A177-3AD203B41FA5}">
                      <a16:colId xmlns:a16="http://schemas.microsoft.com/office/drawing/2014/main" val="547506853"/>
                    </a:ext>
                  </a:extLst>
                </a:gridCol>
                <a:gridCol w="2375797">
                  <a:extLst>
                    <a:ext uri="{9D8B030D-6E8A-4147-A177-3AD203B41FA5}">
                      <a16:colId xmlns:a16="http://schemas.microsoft.com/office/drawing/2014/main" val="4237905474"/>
                    </a:ext>
                  </a:extLst>
                </a:gridCol>
              </a:tblGrid>
              <a:tr h="438880">
                <a:tc>
                  <a:txBody>
                    <a:bodyPr/>
                    <a:lstStyle/>
                    <a:p>
                      <a:pPr algn="ctr">
                        <a:buNone/>
                      </a:pPr>
                      <a:r>
                        <a:rPr lang="en-IN" sz="1600" b="1" dirty="0">
                          <a:latin typeface="Times New Roman" panose="02020603050405020304" pitchFamily="18" charset="0"/>
                          <a:cs typeface="Times New Roman" panose="02020603050405020304" pitchFamily="18" charset="0"/>
                        </a:rPr>
                        <a:t>Author/Journal Name</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a:latin typeface="Times New Roman" panose="02020603050405020304" pitchFamily="18" charset="0"/>
                          <a:cs typeface="Times New Roman" panose="02020603050405020304" pitchFamily="18" charset="0"/>
                        </a:rPr>
                        <a:t>Methodology</a:t>
                      </a:r>
                      <a:endParaRPr lang="en-IN" sz="160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a:latin typeface="Times New Roman" panose="02020603050405020304" pitchFamily="18" charset="0"/>
                          <a:cs typeface="Times New Roman" panose="02020603050405020304" pitchFamily="18" charset="0"/>
                        </a:rPr>
                        <a:t>   Summary</a:t>
                      </a:r>
                      <a:endParaRPr lang="en-US" sz="160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8422373"/>
                  </a:ext>
                </a:extLst>
              </a:tr>
              <a:tr h="1069481">
                <a:tc>
                  <a:txBody>
                    <a:bodyPr/>
                    <a:lstStyle/>
                    <a:p>
                      <a:pPr>
                        <a:buNone/>
                      </a:pPr>
                      <a:r>
                        <a:rPr lang="en-IN" sz="1600" i="0" dirty="0">
                          <a:latin typeface="Times New Roman" panose="02020603050405020304" pitchFamily="18" charset="0"/>
                          <a:cs typeface="Times New Roman" panose="02020603050405020304" pitchFamily="18" charset="0"/>
                        </a:rPr>
                        <a:t>F. Zafari, A. </a:t>
                      </a:r>
                      <a:r>
                        <a:rPr lang="en-IN" sz="1600" i="0" dirty="0" err="1">
                          <a:latin typeface="Times New Roman" panose="02020603050405020304" pitchFamily="18" charset="0"/>
                          <a:cs typeface="Times New Roman" panose="02020603050405020304" pitchFamily="18" charset="0"/>
                        </a:rPr>
                        <a:t>Gkelias</a:t>
                      </a:r>
                      <a:r>
                        <a:rPr lang="en-IN" sz="1600" i="0" dirty="0">
                          <a:latin typeface="Times New Roman" panose="02020603050405020304" pitchFamily="18" charset="0"/>
                          <a:cs typeface="Times New Roman" panose="02020603050405020304" pitchFamily="18" charset="0"/>
                        </a:rPr>
                        <a:t>, K. K. Leung</a:t>
                      </a:r>
                    </a:p>
                    <a:p>
                      <a:pPr>
                        <a:buNone/>
                      </a:pPr>
                      <a:r>
                        <a:rPr lang="en-US" sz="1600" i="0" dirty="0">
                          <a:latin typeface="Times New Roman" panose="02020603050405020304" pitchFamily="18" charset="0"/>
                          <a:cs typeface="Times New Roman" panose="02020603050405020304" pitchFamily="18" charset="0"/>
                        </a:rPr>
                        <a:t>(</a:t>
                      </a:r>
                      <a:r>
                        <a:rPr lang="en-IN" sz="1600" i="0" dirty="0">
                          <a:latin typeface="Times New Roman" panose="02020603050405020304" pitchFamily="18" charset="0"/>
                          <a:cs typeface="Times New Roman" panose="02020603050405020304" pitchFamily="18" charset="0"/>
                        </a:rPr>
                        <a:t>IEEE Communications Surveys &amp; Tutorials)</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A Survey of Indoor Localization Systems and Technologies (2021)</a:t>
                      </a:r>
                      <a:endParaRPr lang="en-IN" sz="1600" i="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 Systematic review of indoor localization techniques.</a:t>
                      </a:r>
                      <a:br>
                        <a:rPr lang="en-US" sz="1600" i="0" dirty="0">
                          <a:latin typeface="Times New Roman" panose="02020603050405020304" pitchFamily="18" charset="0"/>
                          <a:cs typeface="Times New Roman" panose="02020603050405020304" pitchFamily="18" charset="0"/>
                        </a:rPr>
                      </a:br>
                      <a:r>
                        <a:rPr lang="en-US" sz="1600" i="0" dirty="0">
                          <a:latin typeface="Times New Roman" panose="02020603050405020304" pitchFamily="18" charset="0"/>
                          <a:cs typeface="Times New Roman" panose="02020603050405020304" pitchFamily="18" charset="0"/>
                        </a:rPr>
                        <a:t>• Comparison of Wi-Fi, BLE, UWB, RFID</a:t>
                      </a:r>
                      <a:endParaRPr lang="en-IN" sz="1600" i="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Provides a comprehensive overview of existing indoor localization technologies</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967426"/>
                  </a:ext>
                </a:extLst>
              </a:tr>
              <a:tr h="1279682">
                <a:tc>
                  <a:txBody>
                    <a:bodyPr/>
                    <a:lstStyle/>
                    <a:p>
                      <a:pPr>
                        <a:buNone/>
                      </a:pPr>
                      <a:r>
                        <a:rPr lang="es-ES" sz="1600" i="0" dirty="0" err="1">
                          <a:latin typeface="Times New Roman" panose="02020603050405020304" pitchFamily="18" charset="0"/>
                          <a:cs typeface="Times New Roman" panose="02020603050405020304" pitchFamily="18" charset="0"/>
                        </a:rPr>
                        <a:t>H.Al-Tarawneh</a:t>
                      </a:r>
                      <a:r>
                        <a:rPr lang="es-ES" sz="1600" i="0" dirty="0">
                          <a:latin typeface="Times New Roman" panose="02020603050405020304" pitchFamily="18" charset="0"/>
                          <a:cs typeface="Times New Roman" panose="02020603050405020304" pitchFamily="18" charset="0"/>
                        </a:rPr>
                        <a:t>, M. </a:t>
                      </a:r>
                      <a:r>
                        <a:rPr lang="es-ES" sz="1600" i="0" dirty="0" err="1">
                          <a:latin typeface="Times New Roman" panose="02020603050405020304" pitchFamily="18" charset="0"/>
                          <a:cs typeface="Times New Roman" panose="02020603050405020304" pitchFamily="18" charset="0"/>
                        </a:rPr>
                        <a:t>Saraireh</a:t>
                      </a:r>
                      <a:r>
                        <a:rPr lang="es-ES" sz="1600" i="0" dirty="0">
                          <a:latin typeface="Times New Roman" panose="02020603050405020304" pitchFamily="18" charset="0"/>
                          <a:cs typeface="Times New Roman" panose="02020603050405020304" pitchFamily="18" charset="0"/>
                        </a:rPr>
                        <a:t>, M. </a:t>
                      </a:r>
                      <a:r>
                        <a:rPr lang="es-ES" sz="1600" i="0" dirty="0" err="1">
                          <a:latin typeface="Times New Roman" panose="02020603050405020304" pitchFamily="18" charset="0"/>
                          <a:cs typeface="Times New Roman" panose="02020603050405020304" pitchFamily="18" charset="0"/>
                        </a:rPr>
                        <a:t>Alsharif</a:t>
                      </a:r>
                      <a:endParaRPr lang="es-ES" sz="1600" i="0" dirty="0">
                        <a:latin typeface="Times New Roman" panose="02020603050405020304" pitchFamily="18" charset="0"/>
                        <a:cs typeface="Times New Roman" panose="02020603050405020304" pitchFamily="18" charset="0"/>
                      </a:endParaRPr>
                    </a:p>
                    <a:p>
                      <a:pPr>
                        <a:buNone/>
                      </a:pPr>
                      <a:r>
                        <a:rPr lang="en-IN" sz="1600" i="0" dirty="0">
                          <a:latin typeface="Times New Roman" panose="02020603050405020304" pitchFamily="18" charset="0"/>
                          <a:cs typeface="Times New Roman" panose="02020603050405020304" pitchFamily="18" charset="0"/>
                        </a:rPr>
                        <a:t>(Wireless Networks – Springer)</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A Review of Indoor Localization Techniques and Wireless Technologies (2021)</a:t>
                      </a:r>
                      <a:endParaRPr lang="en-IN" sz="1600" i="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 Comparative analysis of wireless technologies used for indoor localization.</a:t>
                      </a:r>
                      <a:br>
                        <a:rPr lang="en-US" sz="1600" i="0" dirty="0">
                          <a:latin typeface="Times New Roman" panose="02020603050405020304" pitchFamily="18" charset="0"/>
                          <a:cs typeface="Times New Roman" panose="02020603050405020304" pitchFamily="18" charset="0"/>
                        </a:rPr>
                      </a:br>
                      <a:r>
                        <a:rPr lang="en-US" sz="1600" i="0" dirty="0">
                          <a:latin typeface="Times New Roman" panose="02020603050405020304" pitchFamily="18" charset="0"/>
                          <a:cs typeface="Times New Roman" panose="02020603050405020304" pitchFamily="18" charset="0"/>
                        </a:rPr>
                        <a:t>• Evaluation based on accuracy, power consumption</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Concludes that no single technology satisfies all indoor localization requirements, emphasizing hybrid solutions for large environments.</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8950958"/>
                  </a:ext>
                </a:extLst>
              </a:tr>
              <a:tr h="859281">
                <a:tc>
                  <a:txBody>
                    <a:bodyPr/>
                    <a:lstStyle/>
                    <a:p>
                      <a:pPr marL="0" indent="0">
                        <a:buNone/>
                      </a:pPr>
                      <a:r>
                        <a:rPr lang="en-IN" sz="1600" i="0" dirty="0">
                          <a:latin typeface="Times New Roman" panose="02020603050405020304" pitchFamily="18" charset="0"/>
                          <a:cs typeface="Times New Roman" panose="02020603050405020304" pitchFamily="18" charset="0"/>
                        </a:rPr>
                        <a:t>S. Subedi et al.</a:t>
                      </a:r>
                    </a:p>
                    <a:p>
                      <a:pPr marL="0" indent="0">
                        <a:buNone/>
                      </a:pPr>
                      <a:r>
                        <a:rPr lang="en-IN" sz="1600" i="0" dirty="0">
                          <a:latin typeface="Times New Roman" panose="02020603050405020304" pitchFamily="18" charset="0"/>
                          <a:cs typeface="Times New Roman" panose="02020603050405020304" pitchFamily="18" charset="0"/>
                        </a:rPr>
                        <a:t>(Applied Sciences – MDPI)</a:t>
                      </a:r>
                    </a:p>
                    <a:p>
                      <a:pPr marL="342900" indent="-342900">
                        <a:buAutoNum type="alphaUcPeriod"/>
                      </a:pPr>
                      <a:endParaRPr lang="en-US" sz="1600" i="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Indoor Positioning Technologies for Smart Environments (2022)</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i="0" dirty="0">
                          <a:latin typeface="Times New Roman" panose="02020603050405020304" pitchFamily="18" charset="0"/>
                          <a:cs typeface="Times New Roman" panose="02020603050405020304" pitchFamily="18" charset="0"/>
                        </a:rPr>
                        <a:t>• </a:t>
                      </a:r>
                      <a:r>
                        <a:rPr lang="en-US" sz="1600" i="0" dirty="0">
                          <a:latin typeface="Times New Roman" panose="02020603050405020304" pitchFamily="18" charset="0"/>
                          <a:cs typeface="Times New Roman" panose="02020603050405020304" pitchFamily="18" charset="0"/>
                        </a:rPr>
                        <a:t>Review of UWB-based indoor positioning methods </a:t>
                      </a:r>
                      <a:br>
                        <a:rPr lang="en-US" sz="1600" i="0" dirty="0">
                          <a:latin typeface="Times New Roman" panose="02020603050405020304" pitchFamily="18" charset="0"/>
                          <a:cs typeface="Times New Roman" panose="02020603050405020304" pitchFamily="18" charset="0"/>
                        </a:rPr>
                      </a:br>
                      <a:r>
                        <a:rPr lang="en-US" sz="1600" i="0" dirty="0">
                          <a:latin typeface="Times New Roman" panose="02020603050405020304" pitchFamily="18" charset="0"/>
                          <a:cs typeface="Times New Roman" panose="02020603050405020304" pitchFamily="18" charset="0"/>
                        </a:rPr>
                        <a:t>• Analysis of </a:t>
                      </a:r>
                      <a:r>
                        <a:rPr lang="en-US" sz="1600" i="0" dirty="0" err="1">
                          <a:latin typeface="Times New Roman" panose="02020603050405020304" pitchFamily="18" charset="0"/>
                          <a:cs typeface="Times New Roman" panose="02020603050405020304" pitchFamily="18" charset="0"/>
                        </a:rPr>
                        <a:t>ToF</a:t>
                      </a:r>
                      <a:r>
                        <a:rPr lang="en-US" sz="1600" i="0" dirty="0">
                          <a:latin typeface="Times New Roman" panose="02020603050405020304" pitchFamily="18" charset="0"/>
                          <a:cs typeface="Times New Roman" panose="02020603050405020304" pitchFamily="18" charset="0"/>
                        </a:rPr>
                        <a:t> and trilateration techniques</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Demonstrates that UWB provides centimeter-level localization accuracy for smart indoor environments.</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011409"/>
                  </a:ext>
                </a:extLst>
              </a:tr>
              <a:tr h="1069481">
                <a:tc>
                  <a:txBody>
                    <a:bodyPr/>
                    <a:lstStyle/>
                    <a:p>
                      <a:pPr marL="0" indent="0">
                        <a:buNone/>
                      </a:pPr>
                      <a:r>
                        <a:rPr lang="en-IN" sz="1600" i="0" dirty="0">
                          <a:latin typeface="Times New Roman" panose="02020603050405020304" pitchFamily="18" charset="0"/>
                          <a:cs typeface="Times New Roman" panose="02020603050405020304" pitchFamily="18" charset="0"/>
                        </a:rPr>
                        <a:t>W. Ma et al.</a:t>
                      </a:r>
                    </a:p>
                    <a:p>
                      <a:pPr marL="0" indent="0">
                        <a:buNone/>
                      </a:pPr>
                      <a:r>
                        <a:rPr lang="en-IN" sz="1600" i="0" dirty="0">
                          <a:latin typeface="Times New Roman" panose="02020603050405020304" pitchFamily="18" charset="0"/>
                          <a:cs typeface="Times New Roman" panose="02020603050405020304" pitchFamily="18" charset="0"/>
                        </a:rPr>
                        <a:t>Measurement: Sensors (Elsevier)</a:t>
                      </a:r>
                      <a:endParaRPr lang="en-US" sz="1600" i="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Indoor Positioning Algorithm Based on TOA and Kalman Filter(2024)</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i="0" dirty="0">
                          <a:latin typeface="Times New Roman" panose="02020603050405020304" pitchFamily="18" charset="0"/>
                          <a:cs typeface="Times New Roman" panose="02020603050405020304" pitchFamily="18" charset="0"/>
                        </a:rPr>
                        <a:t>• UWB-based indoor positioning </a:t>
                      </a:r>
                      <a:r>
                        <a:rPr lang="en-US" sz="1600" b="0" i="0" dirty="0">
                          <a:latin typeface="Times New Roman" panose="02020603050405020304" pitchFamily="18" charset="0"/>
                          <a:cs typeface="Times New Roman" panose="02020603050405020304" pitchFamily="18" charset="0"/>
                        </a:rPr>
                        <a:t>using Time of Arrival (TOA) </a:t>
                      </a:r>
                      <a:r>
                        <a:rPr lang="en-US" sz="1600" i="0" dirty="0">
                          <a:latin typeface="Times New Roman" panose="02020603050405020304" pitchFamily="18" charset="0"/>
                          <a:cs typeface="Times New Roman" panose="02020603050405020304" pitchFamily="18" charset="0"/>
                        </a:rPr>
                        <a:t>ranging</a:t>
                      </a:r>
                    </a:p>
                    <a:p>
                      <a:pPr>
                        <a:buNone/>
                      </a:pPr>
                      <a:endParaRPr lang="en-US" sz="1600" i="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TOA-based UWB ranging with Kalman filtering significantly reduces noise and improves </a:t>
                      </a:r>
                      <a:r>
                        <a:rPr lang="en-US" sz="1600" b="0" i="0" dirty="0">
                          <a:latin typeface="Times New Roman" panose="02020603050405020304" pitchFamily="18" charset="0"/>
                          <a:cs typeface="Times New Roman" panose="02020603050405020304" pitchFamily="18" charset="0"/>
                        </a:rPr>
                        <a:t>indoor </a:t>
                      </a:r>
                      <a:r>
                        <a:rPr lang="en-US" sz="1600" b="0" i="0" dirty="0">
                          <a:solidFill>
                            <a:schemeClr val="tx1"/>
                          </a:solidFill>
                          <a:latin typeface="Times New Roman" panose="02020603050405020304" pitchFamily="18" charset="0"/>
                          <a:cs typeface="Times New Roman" panose="02020603050405020304" pitchFamily="18" charset="0"/>
                        </a:rPr>
                        <a:t>positioning accura</a:t>
                      </a:r>
                      <a:r>
                        <a:rPr lang="en-US" sz="1600" i="0" dirty="0">
                          <a:solidFill>
                            <a:schemeClr val="tx1"/>
                          </a:solidFill>
                          <a:latin typeface="Times New Roman" panose="02020603050405020304" pitchFamily="18" charset="0"/>
                          <a:cs typeface="Times New Roman" panose="02020603050405020304" pitchFamily="18" charset="0"/>
                        </a:rPr>
                        <a:t>cy.</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143020"/>
                  </a:ext>
                </a:extLst>
              </a:tr>
            </a:tbl>
          </a:graphicData>
        </a:graphic>
      </p:graphicFrame>
      <p:sp>
        <p:nvSpPr>
          <p:cNvPr id="8" name="TextBox 7">
            <a:extLst>
              <a:ext uri="{FF2B5EF4-FFF2-40B4-BE49-F238E27FC236}">
                <a16:creationId xmlns:a16="http://schemas.microsoft.com/office/drawing/2014/main" id="{E5CBD742-D392-F5A9-567D-81D37C2E53F3}"/>
              </a:ext>
            </a:extLst>
          </p:cNvPr>
          <p:cNvSpPr txBox="1"/>
          <p:nvPr/>
        </p:nvSpPr>
        <p:spPr>
          <a:xfrm>
            <a:off x="8675225" y="6488668"/>
            <a:ext cx="4572000" cy="369332"/>
          </a:xfrm>
          <a:prstGeom prst="rect">
            <a:avLst/>
          </a:prstGeom>
          <a:noFill/>
        </p:spPr>
        <p:txBody>
          <a:bodyPr wrap="square">
            <a:spAutoFit/>
          </a:bodyPr>
          <a:lstStyle/>
          <a:p>
            <a:fld id="{1E3669FF-A95B-4CED-B2F5-060587381DD8}" type="slidenum">
              <a:rPr lang="en-IN" b="1" smtClean="0">
                <a:solidFill>
                  <a:schemeClr val="bg1"/>
                </a:solidFill>
              </a:rPr>
              <a:pPr/>
              <a:t>4</a:t>
            </a:fld>
            <a:endParaRPr lang="en-IN" b="1" dirty="0">
              <a:solidFill>
                <a:schemeClr val="bg1"/>
              </a:solidFill>
            </a:endParaRPr>
          </a:p>
        </p:txBody>
      </p:sp>
    </p:spTree>
    <p:extLst>
      <p:ext uri="{BB962C8B-B14F-4D97-AF65-F5344CB8AC3E}">
        <p14:creationId xmlns:p14="http://schemas.microsoft.com/office/powerpoint/2010/main" val="3981189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94E94-7F4B-A28F-1F87-E2A6964EA99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A3CBB3E-919D-158C-3B9E-8839275FB649}"/>
              </a:ext>
            </a:extLst>
          </p:cNvPr>
          <p:cNvSpPr txBox="1">
            <a:spLocks/>
          </p:cNvSpPr>
          <p:nvPr/>
        </p:nvSpPr>
        <p:spPr>
          <a:xfrm>
            <a:off x="304800" y="304800"/>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Literature Survey</a:t>
            </a:r>
          </a:p>
        </p:txBody>
      </p:sp>
      <p:sp>
        <p:nvSpPr>
          <p:cNvPr id="5" name="Text Placeholder 2">
            <a:extLst>
              <a:ext uri="{FF2B5EF4-FFF2-40B4-BE49-F238E27FC236}">
                <a16:creationId xmlns:a16="http://schemas.microsoft.com/office/drawing/2014/main" id="{A2BBC6DF-6647-519E-067C-E7FA24731402}"/>
              </a:ext>
            </a:extLst>
          </p:cNvPr>
          <p:cNvSpPr txBox="1">
            <a:spLocks/>
          </p:cNvSpPr>
          <p:nvPr/>
        </p:nvSpPr>
        <p:spPr>
          <a:xfrm>
            <a:off x="304800" y="1156995"/>
            <a:ext cx="8448675" cy="49294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sz="18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D9B7D2F1-84F7-2CB7-585E-B576B8BA1A18}"/>
              </a:ext>
            </a:extLst>
          </p:cNvPr>
          <p:cNvGraphicFramePr>
            <a:graphicFrameLocks noGrp="1"/>
          </p:cNvGraphicFramePr>
          <p:nvPr>
            <p:extLst>
              <p:ext uri="{D42A27DB-BD31-4B8C-83A1-F6EECF244321}">
                <p14:modId xmlns:p14="http://schemas.microsoft.com/office/powerpoint/2010/main" val="1840873590"/>
              </p:ext>
            </p:extLst>
          </p:nvPr>
        </p:nvGraphicFramePr>
        <p:xfrm>
          <a:off x="108285" y="1068271"/>
          <a:ext cx="8951494" cy="5358876"/>
        </p:xfrm>
        <a:graphic>
          <a:graphicData uri="http://schemas.openxmlformats.org/drawingml/2006/table">
            <a:tbl>
              <a:tblPr/>
              <a:tblGrid>
                <a:gridCol w="2245203">
                  <a:extLst>
                    <a:ext uri="{9D8B030D-6E8A-4147-A177-3AD203B41FA5}">
                      <a16:colId xmlns:a16="http://schemas.microsoft.com/office/drawing/2014/main" val="884313755"/>
                    </a:ext>
                  </a:extLst>
                </a:gridCol>
                <a:gridCol w="2245203">
                  <a:extLst>
                    <a:ext uri="{9D8B030D-6E8A-4147-A177-3AD203B41FA5}">
                      <a16:colId xmlns:a16="http://schemas.microsoft.com/office/drawing/2014/main" val="1551679182"/>
                    </a:ext>
                  </a:extLst>
                </a:gridCol>
                <a:gridCol w="2336131">
                  <a:extLst>
                    <a:ext uri="{9D8B030D-6E8A-4147-A177-3AD203B41FA5}">
                      <a16:colId xmlns:a16="http://schemas.microsoft.com/office/drawing/2014/main" val="547506853"/>
                    </a:ext>
                  </a:extLst>
                </a:gridCol>
                <a:gridCol w="2124957">
                  <a:extLst>
                    <a:ext uri="{9D8B030D-6E8A-4147-A177-3AD203B41FA5}">
                      <a16:colId xmlns:a16="http://schemas.microsoft.com/office/drawing/2014/main" val="4237905474"/>
                    </a:ext>
                  </a:extLst>
                </a:gridCol>
              </a:tblGrid>
              <a:tr h="264006">
                <a:tc>
                  <a:txBody>
                    <a:bodyPr/>
                    <a:lstStyle/>
                    <a:p>
                      <a:pPr algn="ctr">
                        <a:buNone/>
                      </a:pPr>
                      <a:r>
                        <a:rPr lang="en-IN" sz="1600" b="1" dirty="0">
                          <a:latin typeface="Times New Roman" panose="02020603050405020304" pitchFamily="18" charset="0"/>
                          <a:cs typeface="Times New Roman" panose="02020603050405020304" pitchFamily="18" charset="0"/>
                        </a:rPr>
                        <a:t>Author/Journal Name</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dirty="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dirty="0">
                          <a:latin typeface="Times New Roman" panose="02020603050405020304" pitchFamily="18" charset="0"/>
                          <a:cs typeface="Times New Roman" panose="02020603050405020304" pitchFamily="18" charset="0"/>
                        </a:rPr>
                        <a:t>Methodology</a:t>
                      </a:r>
                      <a:endParaRPr lang="en-IN" sz="160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a:latin typeface="Times New Roman" panose="02020603050405020304" pitchFamily="18" charset="0"/>
                          <a:cs typeface="Times New Roman" panose="02020603050405020304" pitchFamily="18" charset="0"/>
                        </a:rPr>
                        <a:t>Summary</a:t>
                      </a:r>
                      <a:endParaRPr lang="en-US" sz="160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8422373"/>
                  </a:ext>
                </a:extLst>
              </a:tr>
              <a:tr h="1078279">
                <a:tc>
                  <a:txBody>
                    <a:bodyPr/>
                    <a:lstStyle/>
                    <a:p>
                      <a:pPr>
                        <a:buNone/>
                      </a:pPr>
                      <a:r>
                        <a:rPr lang="it-IT" sz="1600" b="0" i="0" dirty="0">
                          <a:latin typeface="Times New Roman" panose="02020603050405020304" pitchFamily="18" charset="0"/>
                          <a:cs typeface="Times New Roman" panose="02020603050405020304" pitchFamily="18" charset="0"/>
                        </a:rPr>
                        <a:t>M. Khelifi, A. Bradai, A. Benslimane, M. Amjad </a:t>
                      </a:r>
                    </a:p>
                    <a:p>
                      <a:pPr>
                        <a:buNone/>
                      </a:pPr>
                      <a:r>
                        <a:rPr lang="en-IN" sz="1600" i="0" dirty="0">
                          <a:latin typeface="Times New Roman" panose="02020603050405020304" pitchFamily="18" charset="0"/>
                          <a:cs typeface="Times New Roman" panose="02020603050405020304" pitchFamily="18" charset="0"/>
                        </a:rPr>
                        <a:t>(Sensors-MDPI)</a:t>
                      </a:r>
                      <a:endParaRPr lang="en-US" sz="1600" i="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Recent Advances and Challenges in Indoor Localization Systems (2022)</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Reviews and classifies recent indoor localization techniques.</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Highlights scalability, cost, and robustness as major deployment challenges.</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7426032"/>
                  </a:ext>
                </a:extLst>
              </a:tr>
              <a:tr h="1477370">
                <a:tc>
                  <a:txBody>
                    <a:bodyPr/>
                    <a:lstStyle/>
                    <a:p>
                      <a:pPr>
                        <a:buNone/>
                      </a:pPr>
                      <a:r>
                        <a:rPr lang="da-DK" sz="1600" i="0" dirty="0">
                          <a:latin typeface="Times New Roman" panose="02020603050405020304" pitchFamily="18" charset="0"/>
                          <a:cs typeface="Times New Roman" panose="02020603050405020304" pitchFamily="18" charset="0"/>
                        </a:rPr>
                        <a:t>J. Yang et al. </a:t>
                      </a:r>
                      <a:br>
                        <a:rPr lang="da-DK" sz="1600" i="0" dirty="0">
                          <a:latin typeface="Times New Roman" panose="02020603050405020304" pitchFamily="18" charset="0"/>
                          <a:cs typeface="Times New Roman" panose="02020603050405020304" pitchFamily="18" charset="0"/>
                        </a:rPr>
                      </a:br>
                      <a:r>
                        <a:rPr lang="da-DK" sz="1600" i="0" dirty="0">
                          <a:latin typeface="Times New Roman" panose="02020603050405020304" pitchFamily="18" charset="0"/>
                          <a:cs typeface="Times New Roman" panose="02020603050405020304" pitchFamily="18" charset="0"/>
                        </a:rPr>
                        <a:t>(Sensors – MDPI)</a:t>
                      </a:r>
                      <a:endParaRPr lang="en-IN" sz="1600" i="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 UWB Indoor Positioning System Based on TOF and Kalman Filtering (2023)</a:t>
                      </a:r>
                      <a:endParaRPr lang="en-IN" sz="1600" i="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0" dirty="0">
                          <a:latin typeface="Times New Roman" panose="02020603050405020304" pitchFamily="18" charset="0"/>
                          <a:cs typeface="Times New Roman" panose="02020603050405020304" pitchFamily="18" charset="0"/>
                        </a:rPr>
                        <a:t>• </a:t>
                      </a:r>
                      <a:r>
                        <a:rPr lang="en-US" sz="1600" i="0" dirty="0" err="1">
                          <a:latin typeface="Times New Roman" panose="02020603050405020304" pitchFamily="18" charset="0"/>
                          <a:cs typeface="Times New Roman" panose="02020603050405020304" pitchFamily="18" charset="0"/>
                        </a:rPr>
                        <a:t>ToF</a:t>
                      </a:r>
                      <a:r>
                        <a:rPr lang="en-US" sz="1600" i="0" dirty="0">
                          <a:latin typeface="Times New Roman" panose="02020603050405020304" pitchFamily="18" charset="0"/>
                          <a:cs typeface="Times New Roman" panose="02020603050405020304" pitchFamily="18" charset="0"/>
                        </a:rPr>
                        <a:t>-based UWB ranging </a:t>
                      </a:r>
                      <a:br>
                        <a:rPr lang="en-US" sz="1600" i="0" dirty="0">
                          <a:latin typeface="Times New Roman" panose="02020603050405020304" pitchFamily="18" charset="0"/>
                          <a:cs typeface="Times New Roman" panose="02020603050405020304" pitchFamily="18" charset="0"/>
                        </a:rPr>
                      </a:br>
                      <a:r>
                        <a:rPr lang="en-US" sz="1600" i="0" dirty="0">
                          <a:latin typeface="Times New Roman" panose="02020603050405020304" pitchFamily="18" charset="0"/>
                          <a:cs typeface="Times New Roman" panose="02020603050405020304" pitchFamily="18" charset="0"/>
                        </a:rPr>
                        <a:t>• Trilateration with Kalman filtering</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Shows that Kalman filtering significantly improves UWB positioning accuracy in noisy indoor environments.</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3294748"/>
                  </a:ext>
                </a:extLst>
              </a:tr>
              <a:tr h="1234698">
                <a:tc>
                  <a:txBody>
                    <a:bodyPr/>
                    <a:lstStyle/>
                    <a:p>
                      <a:pPr>
                        <a:buNone/>
                      </a:pPr>
                      <a:r>
                        <a:rPr lang="en-IN" sz="1600" i="0" dirty="0">
                          <a:latin typeface="Times New Roman" panose="02020603050405020304" pitchFamily="18" charset="0"/>
                          <a:cs typeface="Times New Roman" panose="02020603050405020304" pitchFamily="18" charset="0"/>
                        </a:rPr>
                        <a:t>M. F. R. Al-Okby et al. </a:t>
                      </a:r>
                      <a:br>
                        <a:rPr lang="en-IN" sz="1600" i="0" dirty="0">
                          <a:latin typeface="Times New Roman" panose="02020603050405020304" pitchFamily="18" charset="0"/>
                          <a:cs typeface="Times New Roman" panose="02020603050405020304" pitchFamily="18" charset="0"/>
                        </a:rPr>
                      </a:br>
                      <a:r>
                        <a:rPr lang="en-IN" sz="1600" i="0" dirty="0">
                          <a:latin typeface="Times New Roman" panose="02020603050405020304" pitchFamily="18" charset="0"/>
                          <a:cs typeface="Times New Roman" panose="02020603050405020304" pitchFamily="18" charset="0"/>
                        </a:rPr>
                        <a:t>(Applied Sciences – MDPI)</a:t>
                      </a:r>
                      <a:endParaRPr lang="en-US" sz="1600" i="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UWB-Based Real-Time Indoor Positioning Systems: A Comprehensive Review (2024)</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 Review of real-time UWB indoor positioning systems </a:t>
                      </a:r>
                      <a:br>
                        <a:rPr lang="en-US" sz="1600" i="0" dirty="0">
                          <a:latin typeface="Times New Roman" panose="02020603050405020304" pitchFamily="18" charset="0"/>
                          <a:cs typeface="Times New Roman" panose="02020603050405020304" pitchFamily="18" charset="0"/>
                        </a:rPr>
                      </a:br>
                      <a:r>
                        <a:rPr lang="en-US" sz="1600" i="0" dirty="0">
                          <a:latin typeface="Times New Roman" panose="02020603050405020304" pitchFamily="18" charset="0"/>
                          <a:cs typeface="Times New Roman" panose="02020603050405020304" pitchFamily="18" charset="0"/>
                        </a:rPr>
                        <a:t>• Analysis of algorithms and architectures</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0" dirty="0">
                          <a:latin typeface="Times New Roman" panose="02020603050405020304" pitchFamily="18" charset="0"/>
                          <a:cs typeface="Times New Roman" panose="02020603050405020304" pitchFamily="18" charset="0"/>
                        </a:rPr>
                        <a:t>Provides an up-to-date overview of real-time UWB indoor positioning techniques and applications.</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0812766"/>
                  </a:ext>
                </a:extLst>
              </a:tr>
              <a:tr h="1290209">
                <a:tc>
                  <a:txBody>
                    <a:bodyPr/>
                    <a:lstStyle/>
                    <a:p>
                      <a:pPr marL="0" indent="0">
                        <a:buNone/>
                      </a:pPr>
                      <a:r>
                        <a:rPr lang="en-IN" sz="1600" i="0" dirty="0">
                          <a:latin typeface="Times New Roman" panose="02020603050405020304" pitchFamily="18" charset="0"/>
                          <a:cs typeface="Times New Roman" panose="02020603050405020304" pitchFamily="18" charset="0"/>
                        </a:rPr>
                        <a:t>W-P. Lin &amp; Y-S. Lu</a:t>
                      </a:r>
                    </a:p>
                    <a:p>
                      <a:pPr marL="0" indent="0">
                        <a:buNone/>
                      </a:pPr>
                      <a:r>
                        <a:rPr lang="en-IN" sz="1600" i="0" dirty="0">
                          <a:latin typeface="Times New Roman" panose="02020603050405020304" pitchFamily="18" charset="0"/>
                          <a:cs typeface="Times New Roman" panose="02020603050405020304" pitchFamily="18" charset="0"/>
                        </a:rPr>
                        <a:t>(Algorithms-MDPI)</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A High-Precision UWB-Based Indoor Positioning System Using TOA(2025)</a:t>
                      </a:r>
                      <a:endParaRPr lang="en-IN" sz="1600" i="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0" dirty="0">
                          <a:latin typeface="Times New Roman" panose="02020603050405020304" pitchFamily="18" charset="0"/>
                          <a:cs typeface="Times New Roman" panose="02020603050405020304" pitchFamily="18" charset="0"/>
                        </a:rPr>
                        <a:t>Reviews LPWAN-based indoor localization approaches.</a:t>
                      </a: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0" dirty="0">
                          <a:latin typeface="Times New Roman" panose="02020603050405020304" pitchFamily="18" charset="0"/>
                          <a:cs typeface="Times New Roman" panose="02020603050405020304" pitchFamily="18" charset="0"/>
                        </a:rPr>
                        <a:t>Concludes LPWAN requires integration with high-accuracy techniques.</a:t>
                      </a:r>
                    </a:p>
                    <a:p>
                      <a:pPr>
                        <a:buNone/>
                      </a:pPr>
                      <a:endParaRPr lang="en-US" sz="1600" i="0" dirty="0">
                        <a:latin typeface="Times New Roman" panose="02020603050405020304" pitchFamily="18" charset="0"/>
                        <a:cs typeface="Times New Roman" panose="02020603050405020304" pitchFamily="18" charset="0"/>
                      </a:endParaRPr>
                    </a:p>
                  </a:txBody>
                  <a:tcPr marL="21435" marR="21435" marT="10718" marB="10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2962907"/>
                  </a:ext>
                </a:extLst>
              </a:tr>
            </a:tbl>
          </a:graphicData>
        </a:graphic>
      </p:graphicFrame>
      <p:sp>
        <p:nvSpPr>
          <p:cNvPr id="6" name="TextBox 5">
            <a:extLst>
              <a:ext uri="{FF2B5EF4-FFF2-40B4-BE49-F238E27FC236}">
                <a16:creationId xmlns:a16="http://schemas.microsoft.com/office/drawing/2014/main" id="{7B79E155-348E-4291-B19B-7B73361F2EF3}"/>
              </a:ext>
            </a:extLst>
          </p:cNvPr>
          <p:cNvSpPr txBox="1"/>
          <p:nvPr/>
        </p:nvSpPr>
        <p:spPr>
          <a:xfrm>
            <a:off x="8594203" y="6488668"/>
            <a:ext cx="4572000" cy="369332"/>
          </a:xfrm>
          <a:prstGeom prst="rect">
            <a:avLst/>
          </a:prstGeom>
          <a:noFill/>
        </p:spPr>
        <p:txBody>
          <a:bodyPr wrap="square">
            <a:spAutoFit/>
          </a:bodyPr>
          <a:lstStyle/>
          <a:p>
            <a:fld id="{1E3669FF-A95B-4CED-B2F5-060587381DD8}" type="slidenum">
              <a:rPr lang="en-IN" b="1" smtClean="0">
                <a:solidFill>
                  <a:schemeClr val="bg1"/>
                </a:solidFill>
              </a:rPr>
              <a:pPr/>
              <a:t>5</a:t>
            </a:fld>
            <a:endParaRPr lang="en-IN" b="1" dirty="0">
              <a:solidFill>
                <a:schemeClr val="bg1"/>
              </a:solidFill>
            </a:endParaRPr>
          </a:p>
        </p:txBody>
      </p:sp>
    </p:spTree>
    <p:extLst>
      <p:ext uri="{BB962C8B-B14F-4D97-AF65-F5344CB8AC3E}">
        <p14:creationId xmlns:p14="http://schemas.microsoft.com/office/powerpoint/2010/main" val="324558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606A1-D8A7-35F2-8900-E2B7C9B1A6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EFE301-92BF-BD11-5F58-12733550563F}"/>
              </a:ext>
            </a:extLst>
          </p:cNvPr>
          <p:cNvSpPr>
            <a:spLocks noGrp="1"/>
          </p:cNvSpPr>
          <p:nvPr>
            <p:ph type="sldNum" sz="quarter" idx="12"/>
          </p:nvPr>
        </p:nvSpPr>
        <p:spPr/>
        <p:txBody>
          <a:bodyPr/>
          <a:lstStyle/>
          <a:p>
            <a:fld id="{1E3669FF-A95B-4CED-B2F5-060587381DD8}" type="slidenum">
              <a:rPr lang="en-IN" smtClean="0"/>
              <a:t>6</a:t>
            </a:fld>
            <a:endParaRPr lang="en-IN"/>
          </a:p>
        </p:txBody>
      </p:sp>
      <p:sp>
        <p:nvSpPr>
          <p:cNvPr id="3" name="Title 1">
            <a:extLst>
              <a:ext uri="{FF2B5EF4-FFF2-40B4-BE49-F238E27FC236}">
                <a16:creationId xmlns:a16="http://schemas.microsoft.com/office/drawing/2014/main" id="{F181D35F-7DF5-E62E-4BC9-634D5F8B93AA}"/>
              </a:ext>
            </a:extLst>
          </p:cNvPr>
          <p:cNvSpPr txBox="1">
            <a:spLocks/>
          </p:cNvSpPr>
          <p:nvPr/>
        </p:nvSpPr>
        <p:spPr>
          <a:xfrm>
            <a:off x="304800" y="304800"/>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3. Problem Statement</a:t>
            </a:r>
          </a:p>
        </p:txBody>
      </p:sp>
      <p:sp>
        <p:nvSpPr>
          <p:cNvPr id="5" name="Text Placeholder 2">
            <a:extLst>
              <a:ext uri="{FF2B5EF4-FFF2-40B4-BE49-F238E27FC236}">
                <a16:creationId xmlns:a16="http://schemas.microsoft.com/office/drawing/2014/main" id="{F2813E27-D843-08C3-3596-74D55CF045D3}"/>
              </a:ext>
            </a:extLst>
          </p:cNvPr>
          <p:cNvSpPr txBox="1">
            <a:spLocks/>
          </p:cNvSpPr>
          <p:nvPr/>
        </p:nvSpPr>
        <p:spPr>
          <a:xfrm>
            <a:off x="304800" y="1017918"/>
            <a:ext cx="8448675" cy="506855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26FB491F-D49E-4F4E-4A31-AF94A9EB82D9}"/>
              </a:ext>
            </a:extLst>
          </p:cNvPr>
          <p:cNvSpPr>
            <a:spLocks noChangeArrowheads="1"/>
          </p:cNvSpPr>
          <p:nvPr/>
        </p:nvSpPr>
        <p:spPr bwMode="auto">
          <a:xfrm>
            <a:off x="385341" y="1131435"/>
            <a:ext cx="8449518"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 departmental stores (1–2 km) contain thousands of products across many racks, making item navigation difficult.</a:t>
            </a:r>
          </a:p>
          <a:p>
            <a:pPr marR="0" lvl="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Customers must manually search shelves, increasing shopping time and confusion.</a:t>
            </a:r>
          </a:p>
          <a:p>
            <a:pPr marR="0" lvl="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store layouts are unfamiliar to customers, leading to poor shopping efficiency and increased staff assistance.</a:t>
            </a:r>
          </a:p>
          <a:p>
            <a:pPr marR="0" lvl="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solutions relying on Wi-Fi or GPS are unreliable or ineffective for accurate indoor navigation.</a:t>
            </a:r>
          </a:p>
          <a:p>
            <a:pPr marR="0" lvl="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need for a low-cost, scalable indoor navigation system that provides store-wide guidance and precise rack-level product localization.</a:t>
            </a:r>
          </a:p>
        </p:txBody>
      </p:sp>
    </p:spTree>
    <p:extLst>
      <p:ext uri="{BB962C8B-B14F-4D97-AF65-F5344CB8AC3E}">
        <p14:creationId xmlns:p14="http://schemas.microsoft.com/office/powerpoint/2010/main" val="3496968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EA63-3F69-FB1E-2D5A-2987F29784B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1372968-64D3-556A-DF8D-37D9080A2438}"/>
              </a:ext>
            </a:extLst>
          </p:cNvPr>
          <p:cNvSpPr>
            <a:spLocks noGrp="1"/>
          </p:cNvSpPr>
          <p:nvPr>
            <p:ph type="sldNum" sz="quarter" idx="12"/>
          </p:nvPr>
        </p:nvSpPr>
        <p:spPr/>
        <p:txBody>
          <a:bodyPr/>
          <a:lstStyle/>
          <a:p>
            <a:fld id="{1E3669FF-A95B-4CED-B2F5-060587381DD8}" type="slidenum">
              <a:rPr lang="en-IN" smtClean="0"/>
              <a:t>7</a:t>
            </a:fld>
            <a:endParaRPr lang="en-IN"/>
          </a:p>
        </p:txBody>
      </p:sp>
      <p:sp>
        <p:nvSpPr>
          <p:cNvPr id="3" name="Title 1">
            <a:extLst>
              <a:ext uri="{FF2B5EF4-FFF2-40B4-BE49-F238E27FC236}">
                <a16:creationId xmlns:a16="http://schemas.microsoft.com/office/drawing/2014/main" id="{9BA0B054-6FD4-04E8-AB0B-62C56C7649F1}"/>
              </a:ext>
            </a:extLst>
          </p:cNvPr>
          <p:cNvSpPr txBox="1">
            <a:spLocks/>
          </p:cNvSpPr>
          <p:nvPr/>
        </p:nvSpPr>
        <p:spPr>
          <a:xfrm>
            <a:off x="304800" y="304800"/>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4. Objective </a:t>
            </a:r>
          </a:p>
        </p:txBody>
      </p:sp>
      <p:sp>
        <p:nvSpPr>
          <p:cNvPr id="5" name="Text Placeholder 2">
            <a:extLst>
              <a:ext uri="{FF2B5EF4-FFF2-40B4-BE49-F238E27FC236}">
                <a16:creationId xmlns:a16="http://schemas.microsoft.com/office/drawing/2014/main" id="{CB4993B8-E940-13DD-F500-9D4A288DD105}"/>
              </a:ext>
            </a:extLst>
          </p:cNvPr>
          <p:cNvSpPr txBox="1">
            <a:spLocks/>
          </p:cNvSpPr>
          <p:nvPr/>
        </p:nvSpPr>
        <p:spPr>
          <a:xfrm>
            <a:off x="304800" y="1194318"/>
            <a:ext cx="8448675" cy="48921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primary objective is to design and implement a hybrid UWB–LoRa indoor localization system that supports both store-level navigation and precise product-level tracking.</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enable real-time product search using a smart shopping cart equipped with a display, UWB tag, and LoRa transceiver.</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ensure meter-level positioning accuracy within each product zone using UWB technology.</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achieve store-wide communication and data exchange across large indoor spaces.</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highlight seasonal top-selling products based on historical sales trends, allowing the system to dynamically promote relevant items to customers.</a:t>
            </a:r>
          </a:p>
        </p:txBody>
      </p:sp>
    </p:spTree>
    <p:extLst>
      <p:ext uri="{BB962C8B-B14F-4D97-AF65-F5344CB8AC3E}">
        <p14:creationId xmlns:p14="http://schemas.microsoft.com/office/powerpoint/2010/main" val="3278527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E7C73-2A30-8B9E-29FA-1CFFFE6CCCDF}"/>
            </a:ext>
          </a:extLst>
        </p:cNvPr>
        <p:cNvGrpSpPr/>
        <p:nvPr/>
      </p:nvGrpSpPr>
      <p:grpSpPr>
        <a:xfrm>
          <a:off x="0" y="0"/>
          <a:ext cx="0" cy="0"/>
          <a:chOff x="0" y="0"/>
          <a:chExt cx="0" cy="0"/>
        </a:xfrm>
      </p:grpSpPr>
      <p:sp>
        <p:nvSpPr>
          <p:cNvPr id="66" name="Text 64">
            <a:extLst>
              <a:ext uri="{FF2B5EF4-FFF2-40B4-BE49-F238E27FC236}">
                <a16:creationId xmlns:a16="http://schemas.microsoft.com/office/drawing/2014/main" id="{C2FBDE34-8D17-2CCF-5746-B4B451E582B4}"/>
              </a:ext>
            </a:extLst>
          </p:cNvPr>
          <p:cNvSpPr/>
          <p:nvPr/>
        </p:nvSpPr>
        <p:spPr>
          <a:xfrm>
            <a:off x="8572500" y="6581140"/>
            <a:ext cx="342900" cy="205740"/>
          </a:xfrm>
          <a:prstGeom prst="rect">
            <a:avLst/>
          </a:prstGeom>
          <a:noFill/>
          <a:ln/>
        </p:spPr>
        <p:txBody>
          <a:bodyPr wrap="square" rtlCol="0" anchor="ctr"/>
          <a:lstStyle/>
          <a:p>
            <a:pPr algn="r"/>
            <a:r>
              <a:rPr lang="en-US" sz="1600" b="1" dirty="0">
                <a:solidFill>
                  <a:schemeClr val="bg1"/>
                </a:solidFill>
                <a:latin typeface="Calibri" pitchFamily="34" charset="0"/>
                <a:ea typeface="Calibri" pitchFamily="34" charset="-122"/>
                <a:cs typeface="Calibri" pitchFamily="34" charset="-120"/>
              </a:rPr>
              <a:t>8</a:t>
            </a:r>
            <a:endParaRPr lang="en-US" sz="1600" b="1" dirty="0">
              <a:solidFill>
                <a:schemeClr val="bg1"/>
              </a:solidFill>
            </a:endParaRPr>
          </a:p>
        </p:txBody>
      </p:sp>
      <p:sp>
        <p:nvSpPr>
          <p:cNvPr id="2" name="TextBox 1">
            <a:extLst>
              <a:ext uri="{FF2B5EF4-FFF2-40B4-BE49-F238E27FC236}">
                <a16:creationId xmlns:a16="http://schemas.microsoft.com/office/drawing/2014/main" id="{352B9703-D1A9-CE60-7442-13A6DD24B26A}"/>
              </a:ext>
            </a:extLst>
          </p:cNvPr>
          <p:cNvSpPr txBox="1"/>
          <p:nvPr/>
        </p:nvSpPr>
        <p:spPr>
          <a:xfrm>
            <a:off x="152400" y="436880"/>
            <a:ext cx="6502400" cy="800219"/>
          </a:xfrm>
          <a:prstGeom prst="rect">
            <a:avLst/>
          </a:prstGeom>
          <a:noFill/>
        </p:spPr>
        <p:txBody>
          <a:bodyPr wrap="square" rtlCol="0">
            <a:spAutoFit/>
          </a:bodyPr>
          <a:lstStyle/>
          <a:p>
            <a:r>
              <a:rPr lang="en-US" sz="2800" dirty="0">
                <a:solidFill>
                  <a:srgbClr val="0070C0"/>
                </a:solidFill>
              </a:rPr>
              <a:t>5. Block Diagram </a:t>
            </a:r>
            <a:endParaRPr lang="en-IN" sz="2800" dirty="0"/>
          </a:p>
          <a:p>
            <a:endParaRPr lang="en-IN" dirty="0"/>
          </a:p>
        </p:txBody>
      </p:sp>
      <p:pic>
        <p:nvPicPr>
          <p:cNvPr id="58" name="Picture 57">
            <a:extLst>
              <a:ext uri="{FF2B5EF4-FFF2-40B4-BE49-F238E27FC236}">
                <a16:creationId xmlns:a16="http://schemas.microsoft.com/office/drawing/2014/main" id="{90B4917F-F274-4AE8-6D14-A7CC621906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118" y="1024812"/>
            <a:ext cx="7828383" cy="5218922"/>
          </a:xfrm>
          <a:prstGeom prst="rect">
            <a:avLst/>
          </a:prstGeom>
        </p:spPr>
      </p:pic>
      <p:sp>
        <p:nvSpPr>
          <p:cNvPr id="59" name="TextBox 58">
            <a:extLst>
              <a:ext uri="{FF2B5EF4-FFF2-40B4-BE49-F238E27FC236}">
                <a16:creationId xmlns:a16="http://schemas.microsoft.com/office/drawing/2014/main" id="{3C65F5C6-656C-570A-63BF-D85D2E2D0D97}"/>
              </a:ext>
            </a:extLst>
          </p:cNvPr>
          <p:cNvSpPr txBox="1"/>
          <p:nvPr/>
        </p:nvSpPr>
        <p:spPr>
          <a:xfrm>
            <a:off x="1698171" y="5980922"/>
            <a:ext cx="6074230" cy="307777"/>
          </a:xfrm>
          <a:prstGeom prst="rect">
            <a:avLst/>
          </a:prstGeom>
          <a:noFill/>
        </p:spPr>
        <p:txBody>
          <a:bodyPr wrap="square" rtlCol="0">
            <a:spAutoFit/>
          </a:bodyPr>
          <a:lstStyle/>
          <a:p>
            <a:r>
              <a:rPr lang="en-US" sz="1400" i="1" dirty="0">
                <a:latin typeface="Times New Roman" panose="02020603050405020304" pitchFamily="18" charset="0"/>
                <a:cs typeface="Times New Roman" panose="02020603050405020304" pitchFamily="18" charset="0"/>
              </a:rPr>
              <a:t>Fig.5.1: Block Diagram of Smart Cart Navigation System Using LoRa and UWB</a:t>
            </a:r>
            <a:endParaRPr lang="en-IN" sz="1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866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1B31F-80D9-19E6-3E26-72A97F18858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22A119-BA5D-4060-850C-7F768585064F}"/>
              </a:ext>
            </a:extLst>
          </p:cNvPr>
          <p:cNvSpPr>
            <a:spLocks noGrp="1"/>
          </p:cNvSpPr>
          <p:nvPr>
            <p:ph type="sldNum" sz="quarter" idx="12"/>
          </p:nvPr>
        </p:nvSpPr>
        <p:spPr/>
        <p:txBody>
          <a:bodyPr/>
          <a:lstStyle/>
          <a:p>
            <a:fld id="{1E3669FF-A95B-4CED-B2F5-060587381DD8}" type="slidenum">
              <a:rPr lang="en-IN" smtClean="0"/>
              <a:t>9</a:t>
            </a:fld>
            <a:endParaRPr lang="en-IN"/>
          </a:p>
        </p:txBody>
      </p:sp>
      <p:sp>
        <p:nvSpPr>
          <p:cNvPr id="3" name="Title 1">
            <a:extLst>
              <a:ext uri="{FF2B5EF4-FFF2-40B4-BE49-F238E27FC236}">
                <a16:creationId xmlns:a16="http://schemas.microsoft.com/office/drawing/2014/main" id="{392ED917-6E69-1DCD-577E-5B9E82CAECD0}"/>
              </a:ext>
            </a:extLst>
          </p:cNvPr>
          <p:cNvSpPr txBox="1">
            <a:spLocks/>
          </p:cNvSpPr>
          <p:nvPr/>
        </p:nvSpPr>
        <p:spPr>
          <a:xfrm>
            <a:off x="304800" y="304800"/>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Block Diagram Description</a:t>
            </a:r>
          </a:p>
        </p:txBody>
      </p:sp>
      <p:sp>
        <p:nvSpPr>
          <p:cNvPr id="5" name="Text Placeholder 2">
            <a:extLst>
              <a:ext uri="{FF2B5EF4-FFF2-40B4-BE49-F238E27FC236}">
                <a16:creationId xmlns:a16="http://schemas.microsoft.com/office/drawing/2014/main" id="{E332FC41-C99A-8BDC-0E9D-1AB55ABBF150}"/>
              </a:ext>
            </a:extLst>
          </p:cNvPr>
          <p:cNvSpPr txBox="1">
            <a:spLocks/>
          </p:cNvSpPr>
          <p:nvPr/>
        </p:nvSpPr>
        <p:spPr>
          <a:xfrm>
            <a:off x="304800" y="933450"/>
            <a:ext cx="8448675" cy="51530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US" sz="1600" dirty="0">
                <a:latin typeface="Times New Roman" panose="02020603050405020304" pitchFamily="18" charset="0"/>
                <a:cs typeface="Times New Roman" panose="02020603050405020304" pitchFamily="18" charset="0"/>
              </a:rPr>
              <a:t>The system architecture consists of two major subsystems:</a:t>
            </a:r>
          </a:p>
          <a:p>
            <a:pPr marL="0" indent="0" algn="just">
              <a:lnSpc>
                <a:spcPct val="100000"/>
              </a:lnSpc>
              <a:buNone/>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Zone Nodes</a:t>
            </a:r>
            <a:r>
              <a:rPr lang="en-US" sz="1600" dirty="0">
                <a:latin typeface="Times New Roman" panose="02020603050405020304" pitchFamily="18" charset="0"/>
                <a:cs typeface="Times New Roman" panose="02020603050405020304" pitchFamily="18" charset="0"/>
              </a:rPr>
              <a:t> and the </a:t>
            </a:r>
            <a:r>
              <a:rPr lang="en-US" sz="1600" b="1" dirty="0">
                <a:latin typeface="Times New Roman" panose="02020603050405020304" pitchFamily="18" charset="0"/>
                <a:cs typeface="Times New Roman" panose="02020603050405020304" pitchFamily="18" charset="0"/>
              </a:rPr>
              <a:t>Smart Cart Unit</a:t>
            </a:r>
            <a:r>
              <a:rPr lang="en-US" sz="1600" dirty="0">
                <a:latin typeface="Times New Roman" panose="02020603050405020304" pitchFamily="18" charset="0"/>
                <a:cs typeface="Times New Roman" panose="02020603050405020304" pitchFamily="18" charset="0"/>
              </a:rPr>
              <a:t>. </a:t>
            </a:r>
          </a:p>
          <a:p>
            <a:pPr algn="just">
              <a:lnSpc>
                <a:spcPct val="1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Each Zone Node contains an ESP32 microcontroller, a UWB anchor, and a LoRa module. These nodes store product coordinate information and transmit it to the cart when queried. UWB anchors placed at known coordinates enable precise ranging when the cart enters the zone. </a:t>
            </a:r>
          </a:p>
          <a:p>
            <a:pPr algn="just">
              <a:lnSpc>
                <a:spcPct val="1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Smart Cart Unit integrates an ESP32 controller, UWB tag, LoRa transceiver, TFT display, and battery. When a user searches for a product, the cart sends a LoRa request to all zones; the node containing the product responds with the rack coordinates. The cart display then highlights the zone on the store map. As the cart approaches and enters that zone, UWB communication becomes active and computes the cart's exact position using Time-of-Flight and trilateration techniques. </a:t>
            </a:r>
          </a:p>
          <a:p>
            <a:pPr algn="just">
              <a:lnSpc>
                <a:spcPct val="1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This layered architecture efficiently combines macro-level navigation using LoRa and micro-level precision using UWB, ensuring a reliable and scalable solution for large indoor spaces.</a:t>
            </a:r>
          </a:p>
        </p:txBody>
      </p:sp>
    </p:spTree>
    <p:extLst>
      <p:ext uri="{BB962C8B-B14F-4D97-AF65-F5344CB8AC3E}">
        <p14:creationId xmlns:p14="http://schemas.microsoft.com/office/powerpoint/2010/main" val="1211016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B4C9F-183E-9068-4B10-9A39E3C74CC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9C4E04-C3EC-4454-1329-4D2A8ECCFD0F}"/>
              </a:ext>
            </a:extLst>
          </p:cNvPr>
          <p:cNvSpPr>
            <a:spLocks noGrp="1"/>
          </p:cNvSpPr>
          <p:nvPr>
            <p:ph type="sldNum" sz="quarter" idx="12"/>
          </p:nvPr>
        </p:nvSpPr>
        <p:spPr/>
        <p:txBody>
          <a:bodyPr/>
          <a:lstStyle/>
          <a:p>
            <a:fld id="{1E3669FF-A95B-4CED-B2F5-060587381DD8}" type="slidenum">
              <a:rPr lang="en-IN" smtClean="0"/>
              <a:t>10</a:t>
            </a:fld>
            <a:endParaRPr lang="en-IN" dirty="0"/>
          </a:p>
        </p:txBody>
      </p:sp>
      <p:sp>
        <p:nvSpPr>
          <p:cNvPr id="3" name="Title 1">
            <a:extLst>
              <a:ext uri="{FF2B5EF4-FFF2-40B4-BE49-F238E27FC236}">
                <a16:creationId xmlns:a16="http://schemas.microsoft.com/office/drawing/2014/main" id="{869B568D-CFC0-C66D-BF8D-B5EE7557235C}"/>
              </a:ext>
            </a:extLst>
          </p:cNvPr>
          <p:cNvSpPr txBox="1">
            <a:spLocks/>
          </p:cNvSpPr>
          <p:nvPr/>
        </p:nvSpPr>
        <p:spPr>
          <a:xfrm>
            <a:off x="146179" y="230155"/>
            <a:ext cx="7691535"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6. Design Methodology (Flowchart / Algorithm)</a:t>
            </a:r>
          </a:p>
        </p:txBody>
      </p:sp>
      <p:sp>
        <p:nvSpPr>
          <p:cNvPr id="5" name="Text Placeholder 2">
            <a:extLst>
              <a:ext uri="{FF2B5EF4-FFF2-40B4-BE49-F238E27FC236}">
                <a16:creationId xmlns:a16="http://schemas.microsoft.com/office/drawing/2014/main" id="{F4A2DF8E-22DE-D3A3-C89B-3B75F23E3945}"/>
              </a:ext>
            </a:extLst>
          </p:cNvPr>
          <p:cNvSpPr txBox="1">
            <a:spLocks/>
          </p:cNvSpPr>
          <p:nvPr/>
        </p:nvSpPr>
        <p:spPr>
          <a:xfrm flipV="1">
            <a:off x="-1725945" y="9128253"/>
            <a:ext cx="6422717" cy="457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dirty="0">
              <a:latin typeface="Constantia" panose="02030602050306030303" charset="0"/>
              <a:cs typeface="Constantia" panose="02030602050306030303" charset="0"/>
            </a:endParaRPr>
          </a:p>
        </p:txBody>
      </p:sp>
      <p:sp>
        <p:nvSpPr>
          <p:cNvPr id="7" name="Rectangle 3">
            <a:extLst>
              <a:ext uri="{FF2B5EF4-FFF2-40B4-BE49-F238E27FC236}">
                <a16:creationId xmlns:a16="http://schemas.microsoft.com/office/drawing/2014/main" id="{305E4A13-3F34-7024-9E9A-B2B06418E77B}"/>
              </a:ext>
            </a:extLst>
          </p:cNvPr>
          <p:cNvSpPr>
            <a:spLocks noChangeArrowheads="1"/>
          </p:cNvSpPr>
          <p:nvPr/>
        </p:nvSpPr>
        <p:spPr bwMode="auto">
          <a:xfrm>
            <a:off x="0" y="698157"/>
            <a:ext cx="8929397" cy="5755422"/>
          </a:xfrm>
          <a:prstGeom prst="rect">
            <a:avLst/>
          </a:prstGeom>
          <a:noFill/>
          <a:ln>
            <a:noFill/>
          </a:ln>
          <a:effectLst>
            <a:glow rad="63500">
              <a:schemeClr val="accent1">
                <a:satMod val="175000"/>
                <a:alpha val="40000"/>
              </a:schemeClr>
            </a:glow>
          </a:effectLst>
        </p:spPr>
        <p:style>
          <a:lnRef idx="0">
            <a:scrgbClr r="0" g="0" b="0"/>
          </a:lnRef>
          <a:fillRef idx="0">
            <a:scrgbClr r="0" g="0" b="0"/>
          </a:fillRef>
          <a:effectRef idx="0">
            <a:scrgbClr r="0" g="0" b="0"/>
          </a:effectRef>
          <a:fontRef idx="minor">
            <a:schemeClr val="accent2"/>
          </a:fontRef>
        </p:style>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Load map &amp; product DB; Init UWB, LoRa, Display</a:t>
            </a:r>
            <a:b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enters product name</a:t>
            </a:r>
            <a:b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Cart broadcasts LoRa query → </a:t>
            </a:r>
            <a:r>
              <a:rPr kumimoji="0" lang="en-US" altLang="en-US" sz="1600" i="1"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Zone LoRa nodes</a:t>
            </a:r>
            <a:b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Zone node(s) reply with {Zone ID}</a:t>
            </a:r>
            <a:b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Cart receives response → </a:t>
            </a:r>
            <a:r>
              <a:rPr kumimoji="0" lang="en-US" altLang="en-US" sz="1600" i="1"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 route on map</a:t>
            </a:r>
            <a:b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Navigate (coarse) toward target zone</a:t>
            </a:r>
            <a:b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 entry to target zone (LoRa proximity / anchor beacon / RSSI)</a:t>
            </a:r>
            <a:b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Activate UWB ranging with anchors in zone</a:t>
            </a:r>
            <a:b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Measure ToF distances → Trilateration → Raw Position</a:t>
            </a:r>
            <a:b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Kalman filter (or complementary filter) → Smoothed Position</a:t>
            </a:r>
            <a:b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precise rack/shelf location</a:t>
            </a:r>
            <a:b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6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reaches product → End / New Query</a:t>
            </a:r>
          </a:p>
        </p:txBody>
      </p:sp>
      <p:sp>
        <p:nvSpPr>
          <p:cNvPr id="10" name="Flowchart: Process 9">
            <a:extLst>
              <a:ext uri="{FF2B5EF4-FFF2-40B4-BE49-F238E27FC236}">
                <a16:creationId xmlns:a16="http://schemas.microsoft.com/office/drawing/2014/main" id="{28DFDA49-CDD3-586D-90F9-1D2822A02147}"/>
              </a:ext>
            </a:extLst>
          </p:cNvPr>
          <p:cNvSpPr/>
          <p:nvPr/>
        </p:nvSpPr>
        <p:spPr>
          <a:xfrm>
            <a:off x="2096219" y="776377"/>
            <a:ext cx="4641011" cy="276046"/>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bg1"/>
              </a:solidFill>
              <a:highlight>
                <a:srgbClr val="DDD9D7"/>
              </a:highlight>
            </a:endParaRPr>
          </a:p>
        </p:txBody>
      </p:sp>
      <p:sp>
        <p:nvSpPr>
          <p:cNvPr id="13" name="Flowchart: Process 12">
            <a:extLst>
              <a:ext uri="{FF2B5EF4-FFF2-40B4-BE49-F238E27FC236}">
                <a16:creationId xmlns:a16="http://schemas.microsoft.com/office/drawing/2014/main" id="{784C7E90-2E82-93F2-000F-07F7F77A0D01}"/>
              </a:ext>
            </a:extLst>
          </p:cNvPr>
          <p:cNvSpPr/>
          <p:nvPr/>
        </p:nvSpPr>
        <p:spPr>
          <a:xfrm>
            <a:off x="3303917" y="1285336"/>
            <a:ext cx="2372264" cy="276046"/>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Flowchart: Process 13">
            <a:extLst>
              <a:ext uri="{FF2B5EF4-FFF2-40B4-BE49-F238E27FC236}">
                <a16:creationId xmlns:a16="http://schemas.microsoft.com/office/drawing/2014/main" id="{04C6A2D1-DBE5-5B3F-9265-A1634D3E7882}"/>
              </a:ext>
            </a:extLst>
          </p:cNvPr>
          <p:cNvSpPr/>
          <p:nvPr/>
        </p:nvSpPr>
        <p:spPr>
          <a:xfrm>
            <a:off x="2225615" y="1759789"/>
            <a:ext cx="4511615" cy="276046"/>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lowchart: Process 16">
            <a:extLst>
              <a:ext uri="{FF2B5EF4-FFF2-40B4-BE49-F238E27FC236}">
                <a16:creationId xmlns:a16="http://schemas.microsoft.com/office/drawing/2014/main" id="{E4F0E3A1-FDCD-2213-5F99-DEE6CCB7E3BD}"/>
              </a:ext>
            </a:extLst>
          </p:cNvPr>
          <p:cNvSpPr/>
          <p:nvPr/>
        </p:nvSpPr>
        <p:spPr>
          <a:xfrm>
            <a:off x="2872596" y="2242868"/>
            <a:ext cx="3183147" cy="276046"/>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Flowchart: Process 17">
            <a:extLst>
              <a:ext uri="{FF2B5EF4-FFF2-40B4-BE49-F238E27FC236}">
                <a16:creationId xmlns:a16="http://schemas.microsoft.com/office/drawing/2014/main" id="{ED5A8A25-99F6-3920-AD9E-102842560EE4}"/>
              </a:ext>
            </a:extLst>
          </p:cNvPr>
          <p:cNvSpPr/>
          <p:nvPr/>
        </p:nvSpPr>
        <p:spPr>
          <a:xfrm>
            <a:off x="2518913" y="2734574"/>
            <a:ext cx="3925019" cy="276046"/>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Flowchart: Process 18">
            <a:extLst>
              <a:ext uri="{FF2B5EF4-FFF2-40B4-BE49-F238E27FC236}">
                <a16:creationId xmlns:a16="http://schemas.microsoft.com/office/drawing/2014/main" id="{4FF6182A-0E47-966D-E0F2-6F05C739459A}"/>
              </a:ext>
            </a:extLst>
          </p:cNvPr>
          <p:cNvSpPr/>
          <p:nvPr/>
        </p:nvSpPr>
        <p:spPr>
          <a:xfrm>
            <a:off x="2803585" y="3209026"/>
            <a:ext cx="3329796" cy="276046"/>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lowchart: Process 21">
            <a:extLst>
              <a:ext uri="{FF2B5EF4-FFF2-40B4-BE49-F238E27FC236}">
                <a16:creationId xmlns:a16="http://schemas.microsoft.com/office/drawing/2014/main" id="{B5B4E78D-FA77-B3D3-5FE7-D86250B77691}"/>
              </a:ext>
            </a:extLst>
          </p:cNvPr>
          <p:cNvSpPr/>
          <p:nvPr/>
        </p:nvSpPr>
        <p:spPr>
          <a:xfrm>
            <a:off x="1613140" y="3692106"/>
            <a:ext cx="5719313" cy="276046"/>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Flowchart: Process 22">
            <a:extLst>
              <a:ext uri="{FF2B5EF4-FFF2-40B4-BE49-F238E27FC236}">
                <a16:creationId xmlns:a16="http://schemas.microsoft.com/office/drawing/2014/main" id="{7F91F2AE-407E-3225-4945-DA008F083E5A}"/>
              </a:ext>
            </a:extLst>
          </p:cNvPr>
          <p:cNvSpPr/>
          <p:nvPr/>
        </p:nvSpPr>
        <p:spPr>
          <a:xfrm>
            <a:off x="2518913" y="4183811"/>
            <a:ext cx="3925019" cy="276046"/>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Flowchart: Process 23">
            <a:extLst>
              <a:ext uri="{FF2B5EF4-FFF2-40B4-BE49-F238E27FC236}">
                <a16:creationId xmlns:a16="http://schemas.microsoft.com/office/drawing/2014/main" id="{539169AC-FF6E-CF04-D40D-1FAA66BF7804}"/>
              </a:ext>
            </a:extLst>
          </p:cNvPr>
          <p:cNvSpPr/>
          <p:nvPr/>
        </p:nvSpPr>
        <p:spPr>
          <a:xfrm>
            <a:off x="2096220" y="4675517"/>
            <a:ext cx="4779034" cy="276046"/>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lowchart: Process 24">
            <a:extLst>
              <a:ext uri="{FF2B5EF4-FFF2-40B4-BE49-F238E27FC236}">
                <a16:creationId xmlns:a16="http://schemas.microsoft.com/office/drawing/2014/main" id="{ECA34C94-93CF-8AAA-F920-2B91D53E900C}"/>
              </a:ext>
            </a:extLst>
          </p:cNvPr>
          <p:cNvSpPr/>
          <p:nvPr/>
        </p:nvSpPr>
        <p:spPr>
          <a:xfrm>
            <a:off x="1863306" y="5167223"/>
            <a:ext cx="5227607" cy="276046"/>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lowchart: Process 26">
            <a:extLst>
              <a:ext uri="{FF2B5EF4-FFF2-40B4-BE49-F238E27FC236}">
                <a16:creationId xmlns:a16="http://schemas.microsoft.com/office/drawing/2014/main" id="{54BF5697-DAC5-D2CF-860F-6EE36A6F88A0}"/>
              </a:ext>
            </a:extLst>
          </p:cNvPr>
          <p:cNvSpPr/>
          <p:nvPr/>
        </p:nvSpPr>
        <p:spPr>
          <a:xfrm>
            <a:off x="2967487" y="5633049"/>
            <a:ext cx="2993366" cy="276046"/>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Flowchart: Process 27">
            <a:extLst>
              <a:ext uri="{FF2B5EF4-FFF2-40B4-BE49-F238E27FC236}">
                <a16:creationId xmlns:a16="http://schemas.microsoft.com/office/drawing/2014/main" id="{29CA71B3-3D39-78D2-9DF3-E98EE47F3BE3}"/>
              </a:ext>
            </a:extLst>
          </p:cNvPr>
          <p:cNvSpPr/>
          <p:nvPr/>
        </p:nvSpPr>
        <p:spPr>
          <a:xfrm>
            <a:off x="2665562" y="6159843"/>
            <a:ext cx="3562710" cy="276046"/>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73950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D6C0C-2890-7BAA-EB29-9DAE5CF1AE1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454ACF6-5708-17FA-7D29-B20CC34FE839}"/>
              </a:ext>
            </a:extLst>
          </p:cNvPr>
          <p:cNvSpPr>
            <a:spLocks noGrp="1"/>
          </p:cNvSpPr>
          <p:nvPr>
            <p:ph type="sldNum" sz="quarter" idx="12"/>
          </p:nvPr>
        </p:nvSpPr>
        <p:spPr/>
        <p:txBody>
          <a:bodyPr/>
          <a:lstStyle/>
          <a:p>
            <a:fld id="{1E3669FF-A95B-4CED-B2F5-060587381DD8}" type="slidenum">
              <a:rPr lang="en-IN" smtClean="0"/>
              <a:t>11</a:t>
            </a:fld>
            <a:endParaRPr lang="en-IN"/>
          </a:p>
        </p:txBody>
      </p:sp>
      <p:sp>
        <p:nvSpPr>
          <p:cNvPr id="3" name="Title 1">
            <a:extLst>
              <a:ext uri="{FF2B5EF4-FFF2-40B4-BE49-F238E27FC236}">
                <a16:creationId xmlns:a16="http://schemas.microsoft.com/office/drawing/2014/main" id="{8E44EDE2-9C2E-2737-4E05-73CA333571A9}"/>
              </a:ext>
            </a:extLst>
          </p:cNvPr>
          <p:cNvSpPr txBox="1">
            <a:spLocks/>
          </p:cNvSpPr>
          <p:nvPr/>
        </p:nvSpPr>
        <p:spPr>
          <a:xfrm>
            <a:off x="304800" y="304800"/>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Ø"/>
            </a:pPr>
            <a:r>
              <a:rPr lang="en-US" sz="2800" b="1" dirty="0">
                <a:solidFill>
                  <a:srgbClr val="0070C0"/>
                </a:solidFill>
              </a:rPr>
              <a:t>Schematic and PCB layout</a:t>
            </a:r>
          </a:p>
        </p:txBody>
      </p:sp>
      <p:sp>
        <p:nvSpPr>
          <p:cNvPr id="5" name="Text Placeholder 2">
            <a:extLst>
              <a:ext uri="{FF2B5EF4-FFF2-40B4-BE49-F238E27FC236}">
                <a16:creationId xmlns:a16="http://schemas.microsoft.com/office/drawing/2014/main" id="{EF2B8DD9-F87E-F5C6-68F6-84607A1D10F4}"/>
              </a:ext>
            </a:extLst>
          </p:cNvPr>
          <p:cNvSpPr txBox="1">
            <a:spLocks/>
          </p:cNvSpPr>
          <p:nvPr/>
        </p:nvSpPr>
        <p:spPr>
          <a:xfrm>
            <a:off x="390525" y="933450"/>
            <a:ext cx="8362950" cy="47617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sz="16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9E012E6E-34AD-B1B0-CA55-99AF618AC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525" y="1011088"/>
            <a:ext cx="7890833" cy="4684143"/>
          </a:xfrm>
          <a:prstGeom prst="rect">
            <a:avLst/>
          </a:prstGeom>
        </p:spPr>
      </p:pic>
      <p:sp>
        <p:nvSpPr>
          <p:cNvPr id="15" name="TextBox 14">
            <a:extLst>
              <a:ext uri="{FF2B5EF4-FFF2-40B4-BE49-F238E27FC236}">
                <a16:creationId xmlns:a16="http://schemas.microsoft.com/office/drawing/2014/main" id="{A80BBD77-5620-BC88-0991-975B43D04624}"/>
              </a:ext>
            </a:extLst>
          </p:cNvPr>
          <p:cNvSpPr txBox="1"/>
          <p:nvPr/>
        </p:nvSpPr>
        <p:spPr>
          <a:xfrm>
            <a:off x="2967487" y="5846912"/>
            <a:ext cx="4572000" cy="307777"/>
          </a:xfrm>
          <a:prstGeom prst="rect">
            <a:avLst/>
          </a:prstGeom>
          <a:noFill/>
        </p:spPr>
        <p:txBody>
          <a:bodyPr wrap="square">
            <a:spAutoFit/>
          </a:bodyPr>
          <a:lstStyle/>
          <a:p>
            <a:pPr algn="just"/>
            <a:r>
              <a:rPr lang="en-US" sz="1400" i="1" dirty="0">
                <a:latin typeface="Times New Roman" panose="02020603050405020304" pitchFamily="18" charset="0"/>
                <a:cs typeface="Times New Roman" panose="02020603050405020304" pitchFamily="18" charset="0"/>
              </a:rPr>
              <a:t>           Fig 6.1- Schematic diagram</a:t>
            </a:r>
          </a:p>
        </p:txBody>
      </p:sp>
    </p:spTree>
    <p:extLst>
      <p:ext uri="{BB962C8B-B14F-4D97-AF65-F5344CB8AC3E}">
        <p14:creationId xmlns:p14="http://schemas.microsoft.com/office/powerpoint/2010/main" val="1880711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0BAD31-ACEC-E6E2-A205-14B494CD1480}"/>
              </a:ext>
            </a:extLst>
          </p:cNvPr>
          <p:cNvSpPr>
            <a:spLocks noGrp="1"/>
          </p:cNvSpPr>
          <p:nvPr>
            <p:ph type="sldNum" sz="quarter" idx="12"/>
          </p:nvPr>
        </p:nvSpPr>
        <p:spPr/>
        <p:txBody>
          <a:bodyPr/>
          <a:lstStyle/>
          <a:p>
            <a:fld id="{1E3669FF-A95B-4CED-B2F5-060587381DD8}" type="slidenum">
              <a:rPr lang="en-IN" smtClean="0"/>
              <a:pPr/>
              <a:t>12</a:t>
            </a:fld>
            <a:endParaRPr lang="en-IN" dirty="0"/>
          </a:p>
        </p:txBody>
      </p:sp>
      <p:pic>
        <p:nvPicPr>
          <p:cNvPr id="4" name="Picture 3">
            <a:extLst>
              <a:ext uri="{FF2B5EF4-FFF2-40B4-BE49-F238E27FC236}">
                <a16:creationId xmlns:a16="http://schemas.microsoft.com/office/drawing/2014/main" id="{C78F77AD-C081-5A37-856F-F596BA9DF7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154" y="1287624"/>
            <a:ext cx="4074224" cy="3167830"/>
          </a:xfrm>
          <a:prstGeom prst="rect">
            <a:avLst/>
          </a:prstGeom>
        </p:spPr>
      </p:pic>
      <p:pic>
        <p:nvPicPr>
          <p:cNvPr id="6" name="Picture 5">
            <a:extLst>
              <a:ext uri="{FF2B5EF4-FFF2-40B4-BE49-F238E27FC236}">
                <a16:creationId xmlns:a16="http://schemas.microsoft.com/office/drawing/2014/main" id="{81C23468-90D8-3264-9167-B4E6BB07AB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6916" y="1324947"/>
            <a:ext cx="4286624" cy="3130508"/>
          </a:xfrm>
          <a:prstGeom prst="rect">
            <a:avLst/>
          </a:prstGeom>
        </p:spPr>
      </p:pic>
      <p:sp>
        <p:nvSpPr>
          <p:cNvPr id="8" name="TextBox 7">
            <a:extLst>
              <a:ext uri="{FF2B5EF4-FFF2-40B4-BE49-F238E27FC236}">
                <a16:creationId xmlns:a16="http://schemas.microsoft.com/office/drawing/2014/main" id="{82FD3212-38AE-23C3-6407-C393937F0E5B}"/>
              </a:ext>
            </a:extLst>
          </p:cNvPr>
          <p:cNvSpPr txBox="1"/>
          <p:nvPr/>
        </p:nvSpPr>
        <p:spPr>
          <a:xfrm>
            <a:off x="353683" y="4429741"/>
            <a:ext cx="3925017"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Fig 6.2- Top Layer</a:t>
            </a:r>
            <a:endParaRPr lang="en-IN" sz="1400" i="1" dirty="0"/>
          </a:p>
        </p:txBody>
      </p:sp>
      <p:sp>
        <p:nvSpPr>
          <p:cNvPr id="10" name="TextBox 9">
            <a:extLst>
              <a:ext uri="{FF2B5EF4-FFF2-40B4-BE49-F238E27FC236}">
                <a16:creationId xmlns:a16="http://schemas.microsoft.com/office/drawing/2014/main" id="{B2700B5F-F366-A707-2761-ED094EC52BCF}"/>
              </a:ext>
            </a:extLst>
          </p:cNvPr>
          <p:cNvSpPr txBox="1"/>
          <p:nvPr/>
        </p:nvSpPr>
        <p:spPr>
          <a:xfrm>
            <a:off x="4680892" y="4510445"/>
            <a:ext cx="4286624"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Fig 6.3- Bottom Layer</a:t>
            </a:r>
            <a:endParaRPr lang="en-IN" sz="1400" i="1" dirty="0"/>
          </a:p>
        </p:txBody>
      </p:sp>
    </p:spTree>
    <p:extLst>
      <p:ext uri="{BB962C8B-B14F-4D97-AF65-F5344CB8AC3E}">
        <p14:creationId xmlns:p14="http://schemas.microsoft.com/office/powerpoint/2010/main" val="1939804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BD149-1525-569D-91A3-F080876CC8F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0D767D-5A2D-CDF6-D2AC-EA91C8F09B5A}"/>
              </a:ext>
            </a:extLst>
          </p:cNvPr>
          <p:cNvSpPr>
            <a:spLocks noGrp="1"/>
          </p:cNvSpPr>
          <p:nvPr>
            <p:ph type="sldNum" sz="quarter" idx="12"/>
          </p:nvPr>
        </p:nvSpPr>
        <p:spPr/>
        <p:txBody>
          <a:bodyPr/>
          <a:lstStyle/>
          <a:p>
            <a:fld id="{1E3669FF-A95B-4CED-B2F5-060587381DD8}" type="slidenum">
              <a:rPr lang="en-IN" smtClean="0"/>
              <a:t>13</a:t>
            </a:fld>
            <a:endParaRPr lang="en-IN"/>
          </a:p>
        </p:txBody>
      </p:sp>
      <p:sp>
        <p:nvSpPr>
          <p:cNvPr id="3" name="Title 1">
            <a:extLst>
              <a:ext uri="{FF2B5EF4-FFF2-40B4-BE49-F238E27FC236}">
                <a16:creationId xmlns:a16="http://schemas.microsoft.com/office/drawing/2014/main" id="{FB4FFDE0-CF7D-1A14-7484-75F2332DA727}"/>
              </a:ext>
            </a:extLst>
          </p:cNvPr>
          <p:cNvSpPr txBox="1">
            <a:spLocks/>
          </p:cNvSpPr>
          <p:nvPr/>
        </p:nvSpPr>
        <p:spPr>
          <a:xfrm>
            <a:off x="304800" y="304800"/>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7. Software &amp; Hardware Details</a:t>
            </a:r>
          </a:p>
        </p:txBody>
      </p:sp>
      <p:sp>
        <p:nvSpPr>
          <p:cNvPr id="5" name="Text Placeholder 2">
            <a:extLst>
              <a:ext uri="{FF2B5EF4-FFF2-40B4-BE49-F238E27FC236}">
                <a16:creationId xmlns:a16="http://schemas.microsoft.com/office/drawing/2014/main" id="{28DC4375-D23C-A160-64EA-4472A665AA47}"/>
              </a:ext>
            </a:extLst>
          </p:cNvPr>
          <p:cNvSpPr txBox="1">
            <a:spLocks/>
          </p:cNvSpPr>
          <p:nvPr/>
        </p:nvSpPr>
        <p:spPr>
          <a:xfrm>
            <a:off x="304800" y="933450"/>
            <a:ext cx="8448675" cy="51530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entire system is implemented and validated using </a:t>
            </a:r>
            <a:r>
              <a:rPr lang="en-US" sz="1600" b="1" dirty="0">
                <a:latin typeface="Times New Roman" panose="02020603050405020304" pitchFamily="18" charset="0"/>
                <a:cs typeface="Times New Roman" panose="02020603050405020304" pitchFamily="18" charset="0"/>
              </a:rPr>
              <a:t>MATLAB</a:t>
            </a:r>
            <a:r>
              <a:rPr lang="en-US" sz="1600" dirty="0">
                <a:latin typeface="Times New Roman" panose="02020603050405020304" pitchFamily="18" charset="0"/>
                <a:cs typeface="Times New Roman" panose="02020603050405020304" pitchFamily="18" charset="0"/>
              </a:rPr>
              <a:t> as a real-world simulation platform. MATLAB is used for 2D indoor map visualization, GUI development, distance computation, noise modeling, Kalman filtering, and shortest-path planning. LoRa-based zone-level distance estimation is simulated using an RSSI path-loss model with added Gaussian noise to represent real wireless interference, while a Kalman filter is applied to reduce measurement fluctuations and improve accuracy. UWB-based rack-level distance estimation is simulated using high-precision coordinate-based ranging with noise injection to emulate real UWB behavior. Real-time GUIs display noisy and filtered distances, along with dynamic graphs comparing raw and filtered signals.</a:t>
            </a: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On the hardware side, the system is designed as a </a:t>
            </a:r>
            <a:r>
              <a:rPr lang="en-US" sz="1600" b="1" dirty="0">
                <a:latin typeface="Times New Roman" panose="02020603050405020304" pitchFamily="18" charset="0"/>
                <a:cs typeface="Times New Roman" panose="02020603050405020304" pitchFamily="18" charset="0"/>
              </a:rPr>
              <a:t>hardware-equivalent simulation</a:t>
            </a:r>
            <a:r>
              <a:rPr lang="en-US" sz="1600" dirty="0">
                <a:latin typeface="Times New Roman" panose="02020603050405020304" pitchFamily="18" charset="0"/>
                <a:cs typeface="Times New Roman" panose="02020603050405020304" pitchFamily="18" charset="0"/>
              </a:rPr>
              <a:t> due to cost and deployment constraints. Each shopping zone is assumed to contain a </a:t>
            </a:r>
            <a:r>
              <a:rPr lang="en-US" sz="1600" b="1" dirty="0">
                <a:latin typeface="Times New Roman" panose="02020603050405020304" pitchFamily="18" charset="0"/>
                <a:cs typeface="Times New Roman" panose="02020603050405020304" pitchFamily="18" charset="0"/>
              </a:rPr>
              <a:t>LoRa node</a:t>
            </a:r>
            <a:r>
              <a:rPr lang="en-US" sz="1600" dirty="0">
                <a:latin typeface="Times New Roman" panose="02020603050405020304" pitchFamily="18" charset="0"/>
                <a:cs typeface="Times New Roman" panose="02020603050405020304" pitchFamily="18" charset="0"/>
              </a:rPr>
              <a:t> (e.g., SX1276/SX1278) for long-range, low-power zone detection, while each rack is equipped with a </a:t>
            </a:r>
            <a:r>
              <a:rPr lang="en-US" sz="1600" b="1" dirty="0">
                <a:latin typeface="Times New Roman" panose="02020603050405020304" pitchFamily="18" charset="0"/>
                <a:cs typeface="Times New Roman" panose="02020603050405020304" pitchFamily="18" charset="0"/>
              </a:rPr>
              <a:t>UWB anchor</a:t>
            </a:r>
            <a:r>
              <a:rPr lang="en-US" sz="1600" dirty="0">
                <a:latin typeface="Times New Roman" panose="02020603050405020304" pitchFamily="18" charset="0"/>
                <a:cs typeface="Times New Roman" panose="02020603050405020304" pitchFamily="18" charset="0"/>
              </a:rPr>
              <a:t> (e.g., DWM1000/DWM3000) for accurate short-range localization. The smart shopping cart acts as a mobile node containing both LoRa and UWB modules controlled by a microcontroller (such as ESP32). This simulated setup closely replicates real-world indoor positioning behavior and allows complete system validation without physical hardware.</a:t>
            </a:r>
          </a:p>
        </p:txBody>
      </p:sp>
    </p:spTree>
    <p:extLst>
      <p:ext uri="{BB962C8B-B14F-4D97-AF65-F5344CB8AC3E}">
        <p14:creationId xmlns:p14="http://schemas.microsoft.com/office/powerpoint/2010/main" val="1757175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80790-5A02-FA40-7526-AEACF7A682A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4A43E1-28D3-F9FF-0216-D461E8300A4B}"/>
              </a:ext>
            </a:extLst>
          </p:cNvPr>
          <p:cNvSpPr>
            <a:spLocks noGrp="1"/>
          </p:cNvSpPr>
          <p:nvPr>
            <p:ph type="sldNum" sz="quarter" idx="12"/>
          </p:nvPr>
        </p:nvSpPr>
        <p:spPr/>
        <p:txBody>
          <a:bodyPr/>
          <a:lstStyle/>
          <a:p>
            <a:fld id="{1E3669FF-A95B-4CED-B2F5-060587381DD8}" type="slidenum">
              <a:rPr lang="en-IN" smtClean="0"/>
              <a:t>14</a:t>
            </a:fld>
            <a:endParaRPr lang="en-IN"/>
          </a:p>
        </p:txBody>
      </p:sp>
      <p:sp>
        <p:nvSpPr>
          <p:cNvPr id="3" name="Title 1">
            <a:extLst>
              <a:ext uri="{FF2B5EF4-FFF2-40B4-BE49-F238E27FC236}">
                <a16:creationId xmlns:a16="http://schemas.microsoft.com/office/drawing/2014/main" id="{F2E96AC8-8046-6BC7-83BB-9F53A5BB88D4}"/>
              </a:ext>
            </a:extLst>
          </p:cNvPr>
          <p:cNvSpPr txBox="1">
            <a:spLocks/>
          </p:cNvSpPr>
          <p:nvPr/>
        </p:nvSpPr>
        <p:spPr>
          <a:xfrm>
            <a:off x="223935" y="177281"/>
            <a:ext cx="6453673" cy="43853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116908FA-BF8B-0541-E6B5-E87DB2807BBC}"/>
              </a:ext>
            </a:extLst>
          </p:cNvPr>
          <p:cNvSpPr txBox="1">
            <a:spLocks/>
          </p:cNvSpPr>
          <p:nvPr/>
        </p:nvSpPr>
        <p:spPr>
          <a:xfrm>
            <a:off x="167951" y="709127"/>
            <a:ext cx="8826759" cy="57416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Grid-Based Path Planning Using Invisible Walkway Graph</a:t>
            </a: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0" indent="0" algn="ctr">
              <a:buNone/>
            </a:pPr>
            <a:r>
              <a:rPr lang="en-US" sz="1400" i="1" dirty="0">
                <a:latin typeface="Times New Roman" panose="02020603050405020304" pitchFamily="18" charset="0"/>
                <a:cs typeface="Times New Roman" panose="02020603050405020304" pitchFamily="18" charset="0"/>
              </a:rPr>
              <a:t>Figure 8.5: Grid based path planning for shortest route</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Each zone and rack is not directly traversable; instead, movement is constrained to predefined horizontal and vertical grid lines, similar to real shopping mall pavements.</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black grid lines represent logical walkways used internally for routing, even though they are not physical walls.</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red cart position represents the current location of the user, and routing is performed only along grid intersections, completely avoiding diagonal or rack-crossing paths.</a:t>
            </a:r>
            <a:endParaRPr lang="en-US" sz="1600" i="1" dirty="0">
              <a:latin typeface="Times New Roman" panose="02020603050405020304" pitchFamily="18" charset="0"/>
              <a:cs typeface="Times New Roman" panose="02020603050405020304" pitchFamily="18" charset="0"/>
            </a:endParaRPr>
          </a:p>
          <a:p>
            <a:pPr marL="0" indent="0">
              <a:buNone/>
            </a:pPr>
            <a:endParaRPr lang="en-US" sz="1400"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749D2D2-576A-D5F8-47D1-2CB2B6893B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9623" y="1014524"/>
            <a:ext cx="5633050" cy="3198014"/>
          </a:xfrm>
          <a:prstGeom prst="rect">
            <a:avLst/>
          </a:prstGeom>
          <a:ln>
            <a:solidFill>
              <a:schemeClr val="accent1"/>
            </a:solidFill>
          </a:ln>
        </p:spPr>
      </p:pic>
      <p:sp>
        <p:nvSpPr>
          <p:cNvPr id="12" name="TextBox 11">
            <a:extLst>
              <a:ext uri="{FF2B5EF4-FFF2-40B4-BE49-F238E27FC236}">
                <a16:creationId xmlns:a16="http://schemas.microsoft.com/office/drawing/2014/main" id="{4BD8D981-DBCB-9FA9-A726-621E5F9E7CEF}"/>
              </a:ext>
            </a:extLst>
          </p:cNvPr>
          <p:cNvSpPr txBox="1"/>
          <p:nvPr/>
        </p:nvSpPr>
        <p:spPr>
          <a:xfrm>
            <a:off x="6693408" y="2529840"/>
            <a:ext cx="1066800" cy="215444"/>
          </a:xfrm>
          <a:prstGeom prst="rect">
            <a:avLst/>
          </a:prstGeom>
          <a:solidFill>
            <a:schemeClr val="bg1"/>
          </a:solidFill>
          <a:ln>
            <a:solidFill>
              <a:srgbClr val="FF0000"/>
            </a:solidFill>
          </a:ln>
        </p:spPr>
        <p:txBody>
          <a:bodyPr wrap="square" rtlCol="0">
            <a:spAutoFit/>
          </a:bodyPr>
          <a:lstStyle/>
          <a:p>
            <a:r>
              <a:rPr lang="en-IN" sz="800" dirty="0">
                <a:latin typeface="Times New Roman" panose="02020603050405020304" pitchFamily="18" charset="0"/>
                <a:cs typeface="Times New Roman" panose="02020603050405020304" pitchFamily="18" charset="0"/>
              </a:rPr>
              <a:t>STARTING POINT </a:t>
            </a:r>
          </a:p>
        </p:txBody>
      </p:sp>
      <p:cxnSp>
        <p:nvCxnSpPr>
          <p:cNvPr id="14" name="Straight Arrow Connector 13">
            <a:extLst>
              <a:ext uri="{FF2B5EF4-FFF2-40B4-BE49-F238E27FC236}">
                <a16:creationId xmlns:a16="http://schemas.microsoft.com/office/drawing/2014/main" id="{D8AFFD0D-54FD-E3E9-CFD6-8BB6A9FBB7CA}"/>
              </a:ext>
            </a:extLst>
          </p:cNvPr>
          <p:cNvCxnSpPr>
            <a:cxnSpLocks/>
          </p:cNvCxnSpPr>
          <p:nvPr/>
        </p:nvCxnSpPr>
        <p:spPr>
          <a:xfrm flipH="1">
            <a:off x="6492240" y="2615184"/>
            <a:ext cx="1706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0354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0672A-5D08-51A8-5D94-4CDD853684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827193-0D7D-3292-2E12-BCCF8307DA47}"/>
              </a:ext>
            </a:extLst>
          </p:cNvPr>
          <p:cNvSpPr>
            <a:spLocks noGrp="1"/>
          </p:cNvSpPr>
          <p:nvPr>
            <p:ph type="sldNum" sz="quarter" idx="12"/>
          </p:nvPr>
        </p:nvSpPr>
        <p:spPr/>
        <p:txBody>
          <a:bodyPr/>
          <a:lstStyle/>
          <a:p>
            <a:fld id="{1E3669FF-A95B-4CED-B2F5-060587381DD8}" type="slidenum">
              <a:rPr lang="en-IN" smtClean="0"/>
              <a:t>15</a:t>
            </a:fld>
            <a:endParaRPr lang="en-IN"/>
          </a:p>
        </p:txBody>
      </p:sp>
      <p:sp>
        <p:nvSpPr>
          <p:cNvPr id="3" name="Title 1">
            <a:extLst>
              <a:ext uri="{FF2B5EF4-FFF2-40B4-BE49-F238E27FC236}">
                <a16:creationId xmlns:a16="http://schemas.microsoft.com/office/drawing/2014/main" id="{C60FB006-44E9-FD70-5F0D-1832D65608BD}"/>
              </a:ext>
            </a:extLst>
          </p:cNvPr>
          <p:cNvSpPr txBox="1">
            <a:spLocks/>
          </p:cNvSpPr>
          <p:nvPr/>
        </p:nvSpPr>
        <p:spPr>
          <a:xfrm>
            <a:off x="223935" y="177281"/>
            <a:ext cx="6453673" cy="43853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D0F767B6-3905-6B80-F9F1-B126C2FB1C75}"/>
              </a:ext>
            </a:extLst>
          </p:cNvPr>
          <p:cNvSpPr txBox="1">
            <a:spLocks/>
          </p:cNvSpPr>
          <p:nvPr/>
        </p:nvSpPr>
        <p:spPr>
          <a:xfrm>
            <a:off x="167951" y="709127"/>
            <a:ext cx="8826759" cy="57416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Product Selection and Shortest Path Mapping</a:t>
            </a: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0" indent="0" algn="ctr">
              <a:buNone/>
            </a:pPr>
            <a:r>
              <a:rPr lang="en-US" sz="1400" i="1" dirty="0">
                <a:latin typeface="Times New Roman" panose="02020603050405020304" pitchFamily="18" charset="0"/>
                <a:cs typeface="Times New Roman" panose="02020603050405020304" pitchFamily="18" charset="0"/>
              </a:rPr>
              <a:t>Figure 8.6: Shortest Path Visualization for Selected Products</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Users can select multiple products across different zones using the GUI. Path dynamically changes based on selected products. The routing algorithm ensures aisle-based navigation. Product destinations are marked clearly on the map.</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system successfully generates an optimized shopping route, improving navigation efficiency.</a:t>
            </a: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06D21CA-5E6B-189B-763E-B20B5AA1CFF3}"/>
              </a:ext>
            </a:extLst>
          </p:cNvPr>
          <p:cNvPicPr>
            <a:picLocks noChangeAspect="1"/>
          </p:cNvPicPr>
          <p:nvPr/>
        </p:nvPicPr>
        <p:blipFill>
          <a:blip r:embed="rId2">
            <a:extLst>
              <a:ext uri="{28A0092B-C50C-407E-A947-70E740481C1C}">
                <a14:useLocalDpi xmlns:a14="http://schemas.microsoft.com/office/drawing/2010/main" val="0"/>
              </a:ext>
            </a:extLst>
          </a:blip>
          <a:srcRect l="2557"/>
          <a:stretch>
            <a:fillRect/>
          </a:stretch>
        </p:blipFill>
        <p:spPr>
          <a:xfrm>
            <a:off x="241730" y="1054359"/>
            <a:ext cx="2570676" cy="3452327"/>
          </a:xfrm>
          <a:prstGeom prst="rect">
            <a:avLst/>
          </a:prstGeom>
          <a:ln>
            <a:solidFill>
              <a:schemeClr val="tx1"/>
            </a:solidFill>
          </a:ln>
        </p:spPr>
      </p:pic>
      <p:pic>
        <p:nvPicPr>
          <p:cNvPr id="9" name="Picture 8">
            <a:extLst>
              <a:ext uri="{FF2B5EF4-FFF2-40B4-BE49-F238E27FC236}">
                <a16:creationId xmlns:a16="http://schemas.microsoft.com/office/drawing/2014/main" id="{4B703CB6-9EE2-C0A5-B34E-E8902FDD53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3919" y="1062280"/>
            <a:ext cx="6011302" cy="3470988"/>
          </a:xfrm>
          <a:prstGeom prst="rect">
            <a:avLst/>
          </a:prstGeom>
          <a:ln>
            <a:solidFill>
              <a:schemeClr val="tx1"/>
            </a:solidFill>
          </a:ln>
        </p:spPr>
      </p:pic>
    </p:spTree>
    <p:extLst>
      <p:ext uri="{BB962C8B-B14F-4D97-AF65-F5344CB8AC3E}">
        <p14:creationId xmlns:p14="http://schemas.microsoft.com/office/powerpoint/2010/main" val="2702525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B2FBE-6B54-39D4-938E-B2B48D3708C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DBDD2E-B404-FFF3-3F85-662D519FE071}"/>
              </a:ext>
            </a:extLst>
          </p:cNvPr>
          <p:cNvSpPr>
            <a:spLocks noGrp="1"/>
          </p:cNvSpPr>
          <p:nvPr>
            <p:ph type="sldNum" sz="quarter" idx="12"/>
          </p:nvPr>
        </p:nvSpPr>
        <p:spPr/>
        <p:txBody>
          <a:bodyPr/>
          <a:lstStyle/>
          <a:p>
            <a:fld id="{1E3669FF-A95B-4CED-B2F5-060587381DD8}" type="slidenum">
              <a:rPr lang="en-IN" smtClean="0"/>
              <a:t>16</a:t>
            </a:fld>
            <a:endParaRPr lang="en-IN"/>
          </a:p>
        </p:txBody>
      </p:sp>
      <p:sp>
        <p:nvSpPr>
          <p:cNvPr id="3" name="Title 1">
            <a:extLst>
              <a:ext uri="{FF2B5EF4-FFF2-40B4-BE49-F238E27FC236}">
                <a16:creationId xmlns:a16="http://schemas.microsoft.com/office/drawing/2014/main" id="{090EE995-D8F2-AC74-C002-EA28516BB791}"/>
              </a:ext>
            </a:extLst>
          </p:cNvPr>
          <p:cNvSpPr txBox="1">
            <a:spLocks/>
          </p:cNvSpPr>
          <p:nvPr/>
        </p:nvSpPr>
        <p:spPr>
          <a:xfrm>
            <a:off x="223935" y="177281"/>
            <a:ext cx="6453673" cy="43853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1F62A0DA-9D07-24F5-EB83-27E7C1E37120}"/>
              </a:ext>
            </a:extLst>
          </p:cNvPr>
          <p:cNvSpPr txBox="1">
            <a:spLocks/>
          </p:cNvSpPr>
          <p:nvPr/>
        </p:nvSpPr>
        <p:spPr>
          <a:xfrm>
            <a:off x="167951" y="709127"/>
            <a:ext cx="8826759" cy="57416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Product Selection and Shortest Path Mapping</a:t>
            </a: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0" indent="0" algn="ctr">
              <a:buNone/>
            </a:pPr>
            <a:r>
              <a:rPr lang="en-US" sz="1400" i="1" dirty="0">
                <a:latin typeface="Times New Roman" panose="02020603050405020304" pitchFamily="18" charset="0"/>
                <a:cs typeface="Times New Roman" panose="02020603050405020304" pitchFamily="18" charset="0"/>
              </a:rPr>
              <a:t>Figure 8.7: Shortest Path Visualization for Selected Products</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This slide demonstrates the shortest path computation for a shopping cart navigating through an indoor mall layout using a grid-constrained routing approach. The path connects multiple selected product locations while strictly following predefined walkable aisles.</a:t>
            </a: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CEBB2CB-668E-1BBA-E00B-487B72DD6B8C}"/>
              </a:ext>
            </a:extLst>
          </p:cNvPr>
          <p:cNvPicPr>
            <a:picLocks noChangeAspect="1"/>
          </p:cNvPicPr>
          <p:nvPr/>
        </p:nvPicPr>
        <p:blipFill>
          <a:blip r:embed="rId2">
            <a:extLst>
              <a:ext uri="{28A0092B-C50C-407E-A947-70E740481C1C}">
                <a14:useLocalDpi xmlns:a14="http://schemas.microsoft.com/office/drawing/2010/main" val="0"/>
              </a:ext>
            </a:extLst>
          </a:blip>
          <a:srcRect l="2394" r="2394"/>
          <a:stretch/>
        </p:blipFill>
        <p:spPr>
          <a:xfrm>
            <a:off x="241730" y="1054359"/>
            <a:ext cx="2570676" cy="3452327"/>
          </a:xfrm>
          <a:prstGeom prst="rect">
            <a:avLst/>
          </a:prstGeom>
          <a:ln>
            <a:solidFill>
              <a:schemeClr val="tx1"/>
            </a:solidFill>
          </a:ln>
        </p:spPr>
      </p:pic>
      <p:pic>
        <p:nvPicPr>
          <p:cNvPr id="9" name="Picture 8">
            <a:extLst>
              <a:ext uri="{FF2B5EF4-FFF2-40B4-BE49-F238E27FC236}">
                <a16:creationId xmlns:a16="http://schemas.microsoft.com/office/drawing/2014/main" id="{BA70D21B-DCAF-27F5-D770-2AB3AF58C27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883698" y="1062280"/>
            <a:ext cx="5991743" cy="3470988"/>
          </a:xfrm>
          <a:prstGeom prst="rect">
            <a:avLst/>
          </a:prstGeom>
          <a:ln>
            <a:solidFill>
              <a:schemeClr val="tx1"/>
            </a:solidFill>
          </a:ln>
        </p:spPr>
      </p:pic>
    </p:spTree>
    <p:extLst>
      <p:ext uri="{BB962C8B-B14F-4D97-AF65-F5344CB8AC3E}">
        <p14:creationId xmlns:p14="http://schemas.microsoft.com/office/powerpoint/2010/main" val="4032573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F5BE9-0F50-86E4-3601-2D31D525EEA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3B1F73-EAFF-73CB-72C4-BA4C6CCC731D}"/>
              </a:ext>
            </a:extLst>
          </p:cNvPr>
          <p:cNvSpPr>
            <a:spLocks noGrp="1"/>
          </p:cNvSpPr>
          <p:nvPr>
            <p:ph type="sldNum" sz="quarter" idx="12"/>
          </p:nvPr>
        </p:nvSpPr>
        <p:spPr/>
        <p:txBody>
          <a:bodyPr/>
          <a:lstStyle/>
          <a:p>
            <a:fld id="{1E3669FF-A95B-4CED-B2F5-060587381DD8}" type="slidenum">
              <a:rPr lang="en-IN" smtClean="0"/>
              <a:t>17</a:t>
            </a:fld>
            <a:endParaRPr lang="en-IN"/>
          </a:p>
        </p:txBody>
      </p:sp>
      <p:sp>
        <p:nvSpPr>
          <p:cNvPr id="3" name="Title 1">
            <a:extLst>
              <a:ext uri="{FF2B5EF4-FFF2-40B4-BE49-F238E27FC236}">
                <a16:creationId xmlns:a16="http://schemas.microsoft.com/office/drawing/2014/main" id="{2288176D-1377-ECDE-17E3-13963EE252DF}"/>
              </a:ext>
            </a:extLst>
          </p:cNvPr>
          <p:cNvSpPr txBox="1">
            <a:spLocks/>
          </p:cNvSpPr>
          <p:nvPr/>
        </p:nvSpPr>
        <p:spPr>
          <a:xfrm>
            <a:off x="223935" y="177281"/>
            <a:ext cx="6453673" cy="43853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3DF3F763-EE3F-0871-985B-FF3EF4A459F7}"/>
              </a:ext>
            </a:extLst>
          </p:cNvPr>
          <p:cNvSpPr txBox="1">
            <a:spLocks/>
          </p:cNvSpPr>
          <p:nvPr/>
        </p:nvSpPr>
        <p:spPr>
          <a:xfrm>
            <a:off x="167951" y="699796"/>
            <a:ext cx="8705461" cy="57416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LoRa-Based Zone-Level and UWB Rack-Level Distance Estimation</a:t>
            </a: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lgn="ctr">
              <a:buNone/>
            </a:pPr>
            <a:r>
              <a:rPr lang="it-IT" sz="1400" i="1" dirty="0">
                <a:latin typeface="Times New Roman" panose="02020603050405020304" pitchFamily="18" charset="0"/>
                <a:cs typeface="Times New Roman" panose="02020603050405020304" pitchFamily="18" charset="0"/>
              </a:rPr>
              <a:t>Fig.8.2: LoRa Distance Monitoring GUI</a:t>
            </a:r>
            <a:endParaRPr lang="en-US" sz="1400" i="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LoRa modules are assumed to be deployed at the center of each zone in the shopping mall. The cart position acts as a mobile LoRa node. The distance between the cart and each zone is estimated using a log-distance path loss model, which converts simulated RSSI values into distance.</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While UWB technology is used for high-accuracy rack-level distance estimation. Each rack within a zone is assumed to contain a UWB anchor node. UWB ranging is activated only when the cart enters a predefined proximity threshold (30 meters) of a zone, reducing unnecessary computation.</a:t>
            </a: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1AF5049-16B3-877C-BA76-094C54B7E029}"/>
              </a:ext>
            </a:extLst>
          </p:cNvPr>
          <p:cNvPicPr>
            <a:picLocks noChangeAspect="1"/>
          </p:cNvPicPr>
          <p:nvPr/>
        </p:nvPicPr>
        <p:blipFill>
          <a:blip r:embed="rId2">
            <a:extLst>
              <a:ext uri="{28A0092B-C50C-407E-A947-70E740481C1C}">
                <a14:useLocalDpi xmlns:a14="http://schemas.microsoft.com/office/drawing/2010/main" val="0"/>
              </a:ext>
            </a:extLst>
          </a:blip>
          <a:srcRect l="10097" t="630" r="9374" b="7763"/>
          <a:stretch>
            <a:fillRect/>
          </a:stretch>
        </p:blipFill>
        <p:spPr>
          <a:xfrm>
            <a:off x="65314" y="1175656"/>
            <a:ext cx="2373871" cy="3312367"/>
          </a:xfrm>
          <a:prstGeom prst="rect">
            <a:avLst/>
          </a:prstGeom>
          <a:ln>
            <a:solidFill>
              <a:schemeClr val="tx1"/>
            </a:solidFill>
          </a:ln>
        </p:spPr>
      </p:pic>
      <p:pic>
        <p:nvPicPr>
          <p:cNvPr id="13" name="Picture 12">
            <a:extLst>
              <a:ext uri="{FF2B5EF4-FFF2-40B4-BE49-F238E27FC236}">
                <a16:creationId xmlns:a16="http://schemas.microsoft.com/office/drawing/2014/main" id="{5A76F9EB-0084-A1EE-E143-FE07F2AA64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7641" y="1166328"/>
            <a:ext cx="5838218" cy="3340358"/>
          </a:xfrm>
          <a:prstGeom prst="rect">
            <a:avLst/>
          </a:prstGeom>
          <a:ln>
            <a:solidFill>
              <a:schemeClr val="tx1"/>
            </a:solidFill>
          </a:ln>
        </p:spPr>
      </p:pic>
      <p:pic>
        <p:nvPicPr>
          <p:cNvPr id="6" name="Picture 5">
            <a:extLst>
              <a:ext uri="{FF2B5EF4-FFF2-40B4-BE49-F238E27FC236}">
                <a16:creationId xmlns:a16="http://schemas.microsoft.com/office/drawing/2014/main" id="{3D0C6866-5F7E-5BF7-5660-DB6DD4D58C5D}"/>
              </a:ext>
            </a:extLst>
          </p:cNvPr>
          <p:cNvPicPr>
            <a:picLocks noChangeAspect="1"/>
          </p:cNvPicPr>
          <p:nvPr/>
        </p:nvPicPr>
        <p:blipFill>
          <a:blip r:embed="rId4"/>
          <a:srcRect l="8902" t="3102" r="10379"/>
          <a:stretch>
            <a:fillRect/>
          </a:stretch>
        </p:blipFill>
        <p:spPr>
          <a:xfrm>
            <a:off x="7275361" y="1511560"/>
            <a:ext cx="1868639" cy="2668555"/>
          </a:xfrm>
          <a:prstGeom prst="rect">
            <a:avLst/>
          </a:prstGeom>
          <a:ln>
            <a:solidFill>
              <a:schemeClr val="tx1"/>
            </a:solidFill>
          </a:ln>
        </p:spPr>
      </p:pic>
    </p:spTree>
    <p:extLst>
      <p:ext uri="{BB962C8B-B14F-4D97-AF65-F5344CB8AC3E}">
        <p14:creationId xmlns:p14="http://schemas.microsoft.com/office/powerpoint/2010/main" val="2763240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98F14-5A85-3FFA-DD52-CC79A799D14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C94A32-D5C4-0754-8E48-D0BB0CC82BF4}"/>
              </a:ext>
            </a:extLst>
          </p:cNvPr>
          <p:cNvSpPr>
            <a:spLocks noGrp="1"/>
          </p:cNvSpPr>
          <p:nvPr>
            <p:ph type="sldNum" sz="quarter" idx="12"/>
          </p:nvPr>
        </p:nvSpPr>
        <p:spPr/>
        <p:txBody>
          <a:bodyPr/>
          <a:lstStyle/>
          <a:p>
            <a:fld id="{1E3669FF-A95B-4CED-B2F5-060587381DD8}" type="slidenum">
              <a:rPr lang="en-IN" smtClean="0"/>
              <a:t>18</a:t>
            </a:fld>
            <a:endParaRPr lang="en-IN"/>
          </a:p>
        </p:txBody>
      </p:sp>
      <p:sp>
        <p:nvSpPr>
          <p:cNvPr id="3" name="Title 1">
            <a:extLst>
              <a:ext uri="{FF2B5EF4-FFF2-40B4-BE49-F238E27FC236}">
                <a16:creationId xmlns:a16="http://schemas.microsoft.com/office/drawing/2014/main" id="{3E6FB510-4C97-A234-BA69-9B7480A9E6FB}"/>
              </a:ext>
            </a:extLst>
          </p:cNvPr>
          <p:cNvSpPr txBox="1">
            <a:spLocks/>
          </p:cNvSpPr>
          <p:nvPr/>
        </p:nvSpPr>
        <p:spPr>
          <a:xfrm>
            <a:off x="223935" y="177281"/>
            <a:ext cx="6453673" cy="43853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8E34F893-7388-8B43-77E5-D1792C263982}"/>
              </a:ext>
            </a:extLst>
          </p:cNvPr>
          <p:cNvSpPr txBox="1">
            <a:spLocks/>
          </p:cNvSpPr>
          <p:nvPr/>
        </p:nvSpPr>
        <p:spPr>
          <a:xfrm>
            <a:off x="167951" y="709127"/>
            <a:ext cx="8826759" cy="57416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Effect of Noise on LoRa Distance Measurement</a:t>
            </a: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0" indent="0" algn="ctr">
              <a:buNone/>
            </a:pPr>
            <a:endParaRPr lang="en-US" sz="1600" dirty="0">
              <a:latin typeface="Times New Roman" panose="02020603050405020304" pitchFamily="18" charset="0"/>
              <a:cs typeface="Times New Roman" panose="02020603050405020304" pitchFamily="18" charset="0"/>
            </a:endParaRPr>
          </a:p>
          <a:p>
            <a:pPr marL="0" indent="0" algn="ctr">
              <a:buNone/>
            </a:pPr>
            <a:r>
              <a:rPr lang="en-US" sz="1400" i="1" dirty="0">
                <a:latin typeface="Times New Roman" panose="02020603050405020304" pitchFamily="18" charset="0"/>
                <a:cs typeface="Times New Roman" panose="02020603050405020304" pitchFamily="18" charset="0"/>
              </a:rPr>
              <a:t>Fig8.3: LoRa Distance with Noise</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Noise introduces random fluctuations in distance readings. The noisy distance deviates from the true distance, especially at larger ranges. This behavior closely matches real LoRa signal characteristics such as multipath and fading.</a:t>
            </a:r>
          </a:p>
          <a:p>
            <a:pPr algn="just">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Due to RSSI noise, multipath fading, and interference, distance estimates from different zones (e.g., Zone 3 and Zone 6) overlap, making it difficult to uniquely identify the cart’s actual zone.</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simulation successfully demonstrates how noise affects LoRa-based distance estimation.</a:t>
            </a:r>
          </a:p>
          <a:p>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EDCC579-0C44-443D-712F-2A80687EE8EF}"/>
              </a:ext>
            </a:extLst>
          </p:cNvPr>
          <p:cNvPicPr>
            <a:picLocks noChangeAspect="1"/>
          </p:cNvPicPr>
          <p:nvPr/>
        </p:nvPicPr>
        <p:blipFill>
          <a:blip r:embed="rId2">
            <a:extLst>
              <a:ext uri="{28A0092B-C50C-407E-A947-70E740481C1C}">
                <a14:useLocalDpi xmlns:a14="http://schemas.microsoft.com/office/drawing/2010/main" val="0"/>
              </a:ext>
            </a:extLst>
          </a:blip>
          <a:srcRect l="1563"/>
          <a:stretch>
            <a:fillRect/>
          </a:stretch>
        </p:blipFill>
        <p:spPr>
          <a:xfrm>
            <a:off x="375323" y="1267584"/>
            <a:ext cx="8485627" cy="2473991"/>
          </a:xfrm>
          <a:prstGeom prst="rect">
            <a:avLst/>
          </a:prstGeom>
          <a:ln>
            <a:solidFill>
              <a:schemeClr val="tx1"/>
            </a:solidFill>
          </a:ln>
        </p:spPr>
      </p:pic>
      <p:sp>
        <p:nvSpPr>
          <p:cNvPr id="8" name="Rectangle 7">
            <a:extLst>
              <a:ext uri="{FF2B5EF4-FFF2-40B4-BE49-F238E27FC236}">
                <a16:creationId xmlns:a16="http://schemas.microsoft.com/office/drawing/2014/main" id="{27BA0FA1-18B1-9D72-DA3A-34B8D7B969B6}"/>
              </a:ext>
            </a:extLst>
          </p:cNvPr>
          <p:cNvSpPr/>
          <p:nvPr/>
        </p:nvSpPr>
        <p:spPr>
          <a:xfrm>
            <a:off x="3803904" y="1908048"/>
            <a:ext cx="603504" cy="9631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B1E77056-47B8-0F45-2D61-2CF81A1DC01C}"/>
              </a:ext>
            </a:extLst>
          </p:cNvPr>
          <p:cNvSpPr txBox="1"/>
          <p:nvPr/>
        </p:nvSpPr>
        <p:spPr>
          <a:xfrm>
            <a:off x="4298188" y="1950213"/>
            <a:ext cx="578358" cy="230832"/>
          </a:xfrm>
          <a:prstGeom prst="rect">
            <a:avLst/>
          </a:prstGeom>
          <a:solidFill>
            <a:srgbClr val="BBDDDD"/>
          </a:solidFill>
          <a:ln>
            <a:solidFill>
              <a:schemeClr val="tx1"/>
            </a:solidFill>
          </a:ln>
        </p:spPr>
        <p:txBody>
          <a:bodyPr wrap="square" rtlCol="0">
            <a:spAutoFit/>
          </a:bodyPr>
          <a:lstStyle/>
          <a:p>
            <a:r>
              <a:rPr lang="en-IN" sz="900" dirty="0"/>
              <a:t>ZONE 6</a:t>
            </a:r>
          </a:p>
        </p:txBody>
      </p:sp>
      <p:sp>
        <p:nvSpPr>
          <p:cNvPr id="7" name="TextBox 6">
            <a:extLst>
              <a:ext uri="{FF2B5EF4-FFF2-40B4-BE49-F238E27FC236}">
                <a16:creationId xmlns:a16="http://schemas.microsoft.com/office/drawing/2014/main" id="{4911871C-778D-EE3D-6267-04386472DA07}"/>
              </a:ext>
            </a:extLst>
          </p:cNvPr>
          <p:cNvSpPr txBox="1"/>
          <p:nvPr/>
        </p:nvSpPr>
        <p:spPr>
          <a:xfrm>
            <a:off x="3328924" y="2118869"/>
            <a:ext cx="578358" cy="230832"/>
          </a:xfrm>
          <a:prstGeom prst="rect">
            <a:avLst/>
          </a:prstGeom>
          <a:solidFill>
            <a:srgbClr val="E8D1FF"/>
          </a:solidFill>
          <a:ln>
            <a:solidFill>
              <a:schemeClr val="tx1"/>
            </a:solidFill>
          </a:ln>
        </p:spPr>
        <p:txBody>
          <a:bodyPr wrap="square" rtlCol="0">
            <a:spAutoFit/>
          </a:bodyPr>
          <a:lstStyle/>
          <a:p>
            <a:r>
              <a:rPr lang="en-IN" sz="900" dirty="0"/>
              <a:t>ZONE 3</a:t>
            </a:r>
          </a:p>
        </p:txBody>
      </p:sp>
    </p:spTree>
    <p:extLst>
      <p:ext uri="{BB962C8B-B14F-4D97-AF65-F5344CB8AC3E}">
        <p14:creationId xmlns:p14="http://schemas.microsoft.com/office/powerpoint/2010/main" val="2466215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4F383-B54D-AAD9-BDF3-61B299C09D7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BF60D4-9124-D632-6642-EE7D6A2439FB}"/>
              </a:ext>
            </a:extLst>
          </p:cNvPr>
          <p:cNvSpPr>
            <a:spLocks noGrp="1"/>
          </p:cNvSpPr>
          <p:nvPr>
            <p:ph type="sldNum" sz="quarter" idx="12"/>
          </p:nvPr>
        </p:nvSpPr>
        <p:spPr/>
        <p:txBody>
          <a:bodyPr/>
          <a:lstStyle/>
          <a:p>
            <a:fld id="{1E3669FF-A95B-4CED-B2F5-060587381DD8}" type="slidenum">
              <a:rPr lang="en-IN" smtClean="0"/>
              <a:t>19</a:t>
            </a:fld>
            <a:endParaRPr lang="en-IN"/>
          </a:p>
        </p:txBody>
      </p:sp>
      <p:sp>
        <p:nvSpPr>
          <p:cNvPr id="3" name="Title 1">
            <a:extLst>
              <a:ext uri="{FF2B5EF4-FFF2-40B4-BE49-F238E27FC236}">
                <a16:creationId xmlns:a16="http://schemas.microsoft.com/office/drawing/2014/main" id="{30FDE1A3-08A0-9885-F80C-1900BBC59586}"/>
              </a:ext>
            </a:extLst>
          </p:cNvPr>
          <p:cNvSpPr txBox="1">
            <a:spLocks/>
          </p:cNvSpPr>
          <p:nvPr/>
        </p:nvSpPr>
        <p:spPr>
          <a:xfrm>
            <a:off x="223935" y="177281"/>
            <a:ext cx="6453673" cy="43853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40680A93-EBE9-B00F-7841-1DE8D5A2DB31}"/>
              </a:ext>
            </a:extLst>
          </p:cNvPr>
          <p:cNvSpPr txBox="1">
            <a:spLocks/>
          </p:cNvSpPr>
          <p:nvPr/>
        </p:nvSpPr>
        <p:spPr>
          <a:xfrm>
            <a:off x="167951" y="709127"/>
            <a:ext cx="8826759" cy="57416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Filtering of Noisy LoRa Distance Measurements</a:t>
            </a: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0" indent="0" algn="ctr">
              <a:buNone/>
            </a:pPr>
            <a:r>
              <a:rPr lang="en-IN" sz="1400" i="1" dirty="0">
                <a:latin typeface="Times New Roman" panose="02020603050405020304" pitchFamily="18" charset="0"/>
                <a:cs typeface="Times New Roman" panose="02020603050405020304" pitchFamily="18" charset="0"/>
              </a:rPr>
              <a:t>Figure 8.4: Filtered LoRa Distance</a:t>
            </a:r>
            <a:endParaRPr lang="en-US" sz="1400" i="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Filtered distance is significantly smoother than raw noisy distance. Sudden spikes due to noise are reduced. 1-Dimensional Kalman Filter is applied to the LoRa-based distance measurements for each zone.</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Kalman filter suppresses random noise and smooths distance estimates over time, clearly separating zone-wise distances and enabling reliable cart localization based on the nearest zone.</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Filtering improves distance stability and accuracy, validating the need for signal processing in real-world localization systems.</a:t>
            </a: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8C59E99-65AD-859E-17BE-4F67B1AFEEE7}"/>
              </a:ext>
            </a:extLst>
          </p:cNvPr>
          <p:cNvPicPr>
            <a:picLocks noChangeAspect="1"/>
          </p:cNvPicPr>
          <p:nvPr/>
        </p:nvPicPr>
        <p:blipFill>
          <a:blip r:embed="rId2">
            <a:extLst>
              <a:ext uri="{28A0092B-C50C-407E-A947-70E740481C1C}">
                <a14:useLocalDpi xmlns:a14="http://schemas.microsoft.com/office/drawing/2010/main" val="0"/>
              </a:ext>
            </a:extLst>
          </a:blip>
          <a:srcRect l="1888"/>
          <a:stretch>
            <a:fillRect/>
          </a:stretch>
        </p:blipFill>
        <p:spPr>
          <a:xfrm>
            <a:off x="263080" y="1259840"/>
            <a:ext cx="8718360" cy="2522164"/>
          </a:xfrm>
          <a:prstGeom prst="rect">
            <a:avLst/>
          </a:prstGeom>
          <a:ln>
            <a:solidFill>
              <a:schemeClr val="tx1"/>
            </a:solidFill>
          </a:ln>
        </p:spPr>
      </p:pic>
      <p:sp>
        <p:nvSpPr>
          <p:cNvPr id="8" name="Rectangle 7">
            <a:extLst>
              <a:ext uri="{FF2B5EF4-FFF2-40B4-BE49-F238E27FC236}">
                <a16:creationId xmlns:a16="http://schemas.microsoft.com/office/drawing/2014/main" id="{53B47126-C36D-99C1-7124-02FD783AD84D}"/>
              </a:ext>
            </a:extLst>
          </p:cNvPr>
          <p:cNvSpPr/>
          <p:nvPr/>
        </p:nvSpPr>
        <p:spPr>
          <a:xfrm>
            <a:off x="3755136" y="1987296"/>
            <a:ext cx="512064" cy="5852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0512B67-57E7-E445-11F4-8D32DC9D3B61}"/>
              </a:ext>
            </a:extLst>
          </p:cNvPr>
          <p:cNvSpPr txBox="1"/>
          <p:nvPr/>
        </p:nvSpPr>
        <p:spPr>
          <a:xfrm>
            <a:off x="3243580" y="1935989"/>
            <a:ext cx="578358" cy="230832"/>
          </a:xfrm>
          <a:prstGeom prst="rect">
            <a:avLst/>
          </a:prstGeom>
          <a:solidFill>
            <a:srgbClr val="E8D1FF"/>
          </a:solidFill>
          <a:ln>
            <a:solidFill>
              <a:schemeClr val="tx1"/>
            </a:solidFill>
          </a:ln>
        </p:spPr>
        <p:txBody>
          <a:bodyPr wrap="square" rtlCol="0">
            <a:spAutoFit/>
          </a:bodyPr>
          <a:lstStyle/>
          <a:p>
            <a:r>
              <a:rPr lang="en-IN" sz="900" dirty="0"/>
              <a:t>ZONE 3</a:t>
            </a:r>
          </a:p>
        </p:txBody>
      </p:sp>
      <p:sp>
        <p:nvSpPr>
          <p:cNvPr id="2" name="TextBox 1">
            <a:extLst>
              <a:ext uri="{FF2B5EF4-FFF2-40B4-BE49-F238E27FC236}">
                <a16:creationId xmlns:a16="http://schemas.microsoft.com/office/drawing/2014/main" id="{6CEA4A37-D2AE-210A-B503-4EA2CA134536}"/>
              </a:ext>
            </a:extLst>
          </p:cNvPr>
          <p:cNvSpPr txBox="1"/>
          <p:nvPr/>
        </p:nvSpPr>
        <p:spPr>
          <a:xfrm>
            <a:off x="4231640" y="2026921"/>
            <a:ext cx="578358" cy="230832"/>
          </a:xfrm>
          <a:prstGeom prst="rect">
            <a:avLst/>
          </a:prstGeom>
          <a:solidFill>
            <a:srgbClr val="BBDDDD"/>
          </a:solidFill>
          <a:ln>
            <a:solidFill>
              <a:schemeClr val="tx1"/>
            </a:solidFill>
          </a:ln>
        </p:spPr>
        <p:txBody>
          <a:bodyPr wrap="square" rtlCol="0">
            <a:spAutoFit/>
          </a:bodyPr>
          <a:lstStyle/>
          <a:p>
            <a:r>
              <a:rPr lang="en-IN" sz="900" dirty="0"/>
              <a:t>ZONE 6</a:t>
            </a:r>
          </a:p>
        </p:txBody>
      </p:sp>
    </p:spTree>
    <p:extLst>
      <p:ext uri="{BB962C8B-B14F-4D97-AF65-F5344CB8AC3E}">
        <p14:creationId xmlns:p14="http://schemas.microsoft.com/office/powerpoint/2010/main" val="66038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7160F-517F-E41B-356E-8EF517698C3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3B5A18-7C15-2349-B969-959BDFE75AC1}"/>
              </a:ext>
            </a:extLst>
          </p:cNvPr>
          <p:cNvSpPr>
            <a:spLocks noGrp="1"/>
          </p:cNvSpPr>
          <p:nvPr>
            <p:ph type="sldNum" sz="quarter" idx="12"/>
          </p:nvPr>
        </p:nvSpPr>
        <p:spPr/>
        <p:txBody>
          <a:bodyPr/>
          <a:lstStyle/>
          <a:p>
            <a:fld id="{1E3669FF-A95B-4CED-B2F5-060587381DD8}" type="slidenum">
              <a:rPr lang="en-IN" smtClean="0"/>
              <a:t>20</a:t>
            </a:fld>
            <a:endParaRPr lang="en-IN"/>
          </a:p>
        </p:txBody>
      </p:sp>
      <p:sp>
        <p:nvSpPr>
          <p:cNvPr id="3" name="Title 1">
            <a:extLst>
              <a:ext uri="{FF2B5EF4-FFF2-40B4-BE49-F238E27FC236}">
                <a16:creationId xmlns:a16="http://schemas.microsoft.com/office/drawing/2014/main" id="{359352A3-43D2-4109-9F50-48F45289193D}"/>
              </a:ext>
            </a:extLst>
          </p:cNvPr>
          <p:cNvSpPr txBox="1">
            <a:spLocks/>
          </p:cNvSpPr>
          <p:nvPr/>
        </p:nvSpPr>
        <p:spPr>
          <a:xfrm>
            <a:off x="251927" y="167951"/>
            <a:ext cx="6453673" cy="7654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8. Results</a:t>
            </a:r>
          </a:p>
        </p:txBody>
      </p:sp>
      <p:sp>
        <p:nvSpPr>
          <p:cNvPr id="5" name="Text Placeholder 2">
            <a:extLst>
              <a:ext uri="{FF2B5EF4-FFF2-40B4-BE49-F238E27FC236}">
                <a16:creationId xmlns:a16="http://schemas.microsoft.com/office/drawing/2014/main" id="{A40F4D07-9C26-380C-3ABB-C90DD84A8241}"/>
              </a:ext>
            </a:extLst>
          </p:cNvPr>
          <p:cNvSpPr txBox="1">
            <a:spLocks/>
          </p:cNvSpPr>
          <p:nvPr/>
        </p:nvSpPr>
        <p:spPr>
          <a:xfrm>
            <a:off x="167951" y="699796"/>
            <a:ext cx="8826759" cy="57416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Indoor Mall Layout and System Visualization</a:t>
            </a: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ctr">
              <a:buNone/>
            </a:pPr>
            <a:r>
              <a:rPr lang="en-US" sz="1400" i="1" dirty="0">
                <a:latin typeface="Times New Roman" panose="02020603050405020304" pitchFamily="18" charset="0"/>
                <a:cs typeface="Times New Roman" panose="02020603050405020304" pitchFamily="18" charset="0"/>
              </a:rPr>
              <a:t>Fig. 8.1: 2D Indoor Shopping Mall Layout</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 2D indoor shopping mall layout was successfully created in MATLAB, representing a large-scale shopping complex of </a:t>
            </a:r>
            <a:r>
              <a:rPr lang="en-US" sz="1600" b="1" dirty="0">
                <a:latin typeface="Times New Roman" panose="02020603050405020304" pitchFamily="18" charset="0"/>
                <a:cs typeface="Times New Roman" panose="02020603050405020304" pitchFamily="18" charset="0"/>
              </a:rPr>
              <a:t>2 km × 1 km (scaled)</a:t>
            </a:r>
            <a:r>
              <a:rPr lang="en-US" sz="16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system visually differentiates zones, racks, aisles, and the shopping cart position, providing a clear and realistic indoor environment for navigation simulation.</a:t>
            </a:r>
          </a:p>
          <a:p>
            <a:pPr marL="0" indent="0" algn="just">
              <a:buNone/>
            </a:pPr>
            <a:endParaRPr lang="en-US"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838B228-185A-7B86-3ABD-7D8A61D7D2B0}"/>
              </a:ext>
            </a:extLst>
          </p:cNvPr>
          <p:cNvPicPr>
            <a:picLocks noChangeAspect="1"/>
          </p:cNvPicPr>
          <p:nvPr/>
        </p:nvPicPr>
        <p:blipFill>
          <a:blip r:embed="rId2"/>
          <a:stretch>
            <a:fillRect/>
          </a:stretch>
        </p:blipFill>
        <p:spPr>
          <a:xfrm>
            <a:off x="983275" y="1091685"/>
            <a:ext cx="7004873" cy="3760234"/>
          </a:xfrm>
          <a:prstGeom prst="rect">
            <a:avLst/>
          </a:prstGeom>
          <a:ln w="12700">
            <a:solidFill>
              <a:schemeClr val="tx1"/>
            </a:solidFill>
          </a:ln>
        </p:spPr>
      </p:pic>
    </p:spTree>
    <p:extLst>
      <p:ext uri="{BB962C8B-B14F-4D97-AF65-F5344CB8AC3E}">
        <p14:creationId xmlns:p14="http://schemas.microsoft.com/office/powerpoint/2010/main" val="32912007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51D5B-E98F-E8DA-3C69-3272C0FA635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67BAE9-C671-6ED4-93D9-25C73B28C51F}"/>
              </a:ext>
            </a:extLst>
          </p:cNvPr>
          <p:cNvSpPr>
            <a:spLocks noGrp="1"/>
          </p:cNvSpPr>
          <p:nvPr>
            <p:ph type="sldNum" sz="quarter" idx="12"/>
          </p:nvPr>
        </p:nvSpPr>
        <p:spPr/>
        <p:txBody>
          <a:bodyPr/>
          <a:lstStyle/>
          <a:p>
            <a:fld id="{1E3669FF-A95B-4CED-B2F5-060587381DD8}" type="slidenum">
              <a:rPr lang="en-IN" smtClean="0"/>
              <a:t>21</a:t>
            </a:fld>
            <a:endParaRPr lang="en-IN"/>
          </a:p>
        </p:txBody>
      </p:sp>
      <p:sp>
        <p:nvSpPr>
          <p:cNvPr id="3" name="Title 1">
            <a:extLst>
              <a:ext uri="{FF2B5EF4-FFF2-40B4-BE49-F238E27FC236}">
                <a16:creationId xmlns:a16="http://schemas.microsoft.com/office/drawing/2014/main" id="{98CF695C-D328-3C0A-1F86-150B84441DD5}"/>
              </a:ext>
            </a:extLst>
          </p:cNvPr>
          <p:cNvSpPr txBox="1">
            <a:spLocks/>
          </p:cNvSpPr>
          <p:nvPr/>
        </p:nvSpPr>
        <p:spPr>
          <a:xfrm>
            <a:off x="286138" y="491827"/>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A29471D2-FD38-2C5F-E30B-DFCD854FE6CF}"/>
              </a:ext>
            </a:extLst>
          </p:cNvPr>
          <p:cNvSpPr txBox="1">
            <a:spLocks/>
          </p:cNvSpPr>
          <p:nvPr/>
        </p:nvSpPr>
        <p:spPr>
          <a:xfrm>
            <a:off x="286138" y="793101"/>
            <a:ext cx="8756262" cy="57296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500"/>
              </a:spcBef>
              <a:buNone/>
            </a:pPr>
            <a:endParaRPr lang="en-US" sz="1600" dirty="0">
              <a:latin typeface="Times New Roman" panose="02020603050405020304" pitchFamily="18" charset="0"/>
              <a:cs typeface="Times New Roman" panose="02020603050405020304" pitchFamily="18" charset="0"/>
            </a:endParaRPr>
          </a:p>
          <a:p>
            <a:pPr marL="0" indent="0">
              <a:lnSpc>
                <a:spcPct val="100000"/>
              </a:lnSpc>
              <a:spcBef>
                <a:spcPts val="500"/>
              </a:spcBef>
              <a:buNone/>
            </a:pPr>
            <a:r>
              <a:rPr lang="en-US" sz="1600" dirty="0">
                <a:latin typeface="Times New Roman" panose="02020603050405020304" pitchFamily="18" charset="0"/>
                <a:cs typeface="Times New Roman" panose="02020603050405020304" pitchFamily="18" charset="0"/>
              </a:rPr>
              <a:t>The developed hardware prototype demonstrates the practical implementation of the proposed indoor localization and navigation system. The device integrates key components including the microcontroller, UWB communication module, LoRa module, and a touchscreen display within a compact enclosure. This setup enables real-time localization processing and communication between system nodes. The prototype validates the feasibility of the proposed architecture and serves as a functional platform for testing indoor navigation and positioning performance</a:t>
            </a:r>
            <a:r>
              <a:rPr lang="en-US" sz="1800" dirty="0"/>
              <a:t>.</a:t>
            </a:r>
          </a:p>
          <a:p>
            <a:pPr marL="0" indent="0">
              <a:lnSpc>
                <a:spcPct val="100000"/>
              </a:lnSpc>
              <a:spcBef>
                <a:spcPts val="500"/>
              </a:spcBef>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BCE6C01-88C8-7408-C8C0-9B7C14F679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8106" y="2027207"/>
            <a:ext cx="4587787" cy="4930625"/>
          </a:xfrm>
          <a:prstGeom prst="rect">
            <a:avLst/>
          </a:prstGeom>
        </p:spPr>
      </p:pic>
    </p:spTree>
    <p:extLst>
      <p:ext uri="{BB962C8B-B14F-4D97-AF65-F5344CB8AC3E}">
        <p14:creationId xmlns:p14="http://schemas.microsoft.com/office/powerpoint/2010/main" val="3187549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16C39-9BCC-D0D9-57B7-D4CA582F3B4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2569EB-B225-72B3-C5C3-FA5771C804E8}"/>
              </a:ext>
            </a:extLst>
          </p:cNvPr>
          <p:cNvSpPr>
            <a:spLocks noGrp="1"/>
          </p:cNvSpPr>
          <p:nvPr>
            <p:ph type="sldNum" sz="quarter" idx="12"/>
          </p:nvPr>
        </p:nvSpPr>
        <p:spPr/>
        <p:txBody>
          <a:bodyPr/>
          <a:lstStyle/>
          <a:p>
            <a:fld id="{1E3669FF-A95B-4CED-B2F5-060587381DD8}" type="slidenum">
              <a:rPr lang="en-IN" smtClean="0"/>
              <a:t>22</a:t>
            </a:fld>
            <a:endParaRPr lang="en-IN"/>
          </a:p>
        </p:txBody>
      </p:sp>
      <p:sp>
        <p:nvSpPr>
          <p:cNvPr id="3" name="Title 1">
            <a:extLst>
              <a:ext uri="{FF2B5EF4-FFF2-40B4-BE49-F238E27FC236}">
                <a16:creationId xmlns:a16="http://schemas.microsoft.com/office/drawing/2014/main" id="{C05333F9-7278-AC3E-943D-2A96710025CD}"/>
              </a:ext>
            </a:extLst>
          </p:cNvPr>
          <p:cNvSpPr txBox="1">
            <a:spLocks/>
          </p:cNvSpPr>
          <p:nvPr/>
        </p:nvSpPr>
        <p:spPr>
          <a:xfrm>
            <a:off x="286138" y="491827"/>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31CDE97C-FFE3-0B4A-AC7C-83278C20CF85}"/>
              </a:ext>
            </a:extLst>
          </p:cNvPr>
          <p:cNvSpPr txBox="1">
            <a:spLocks/>
          </p:cNvSpPr>
          <p:nvPr/>
        </p:nvSpPr>
        <p:spPr>
          <a:xfrm>
            <a:off x="286138" y="793101"/>
            <a:ext cx="8756262" cy="57296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500"/>
              </a:spcBef>
              <a:buNone/>
            </a:pPr>
            <a:endParaRPr lang="en-US" sz="1600" dirty="0">
              <a:latin typeface="Times New Roman" panose="02020603050405020304" pitchFamily="18" charset="0"/>
              <a:cs typeface="Times New Roman" panose="02020603050405020304" pitchFamily="18" charset="0"/>
            </a:endParaRPr>
          </a:p>
          <a:p>
            <a:pPr>
              <a:lnSpc>
                <a:spcPct val="100000"/>
              </a:lnSpc>
              <a:spcBef>
                <a:spcPts val="500"/>
              </a:spcBef>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enable real-time product search using a smart shopping cart equipped with a display, UWB tag, and LoRa transceiver.</a:t>
            </a:r>
          </a:p>
          <a:p>
            <a:pPr marL="0" indent="0">
              <a:lnSpc>
                <a:spcPct val="100000"/>
              </a:lnSpc>
              <a:spcBef>
                <a:spcPts val="500"/>
              </a:spcBef>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2" name="AutoShape 2">
            <a:extLst>
              <a:ext uri="{FF2B5EF4-FFF2-40B4-BE49-F238E27FC236}">
                <a16:creationId xmlns:a16="http://schemas.microsoft.com/office/drawing/2014/main" id="{E021E214-8E4A-12EF-AA8C-D8E46BB4243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a:extLst>
              <a:ext uri="{FF2B5EF4-FFF2-40B4-BE49-F238E27FC236}">
                <a16:creationId xmlns:a16="http://schemas.microsoft.com/office/drawing/2014/main" id="{AAD83B2B-66A8-8618-5D6C-7FA3437E8E82}"/>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1526F513-945F-E55A-987D-23278CCB63C7}"/>
              </a:ext>
            </a:extLst>
          </p:cNvPr>
          <p:cNvPicPr>
            <a:picLocks noChangeAspect="1"/>
          </p:cNvPicPr>
          <p:nvPr/>
        </p:nvPicPr>
        <p:blipFill>
          <a:blip r:embed="rId2"/>
          <a:stretch>
            <a:fillRect/>
          </a:stretch>
        </p:blipFill>
        <p:spPr>
          <a:xfrm>
            <a:off x="1007979" y="1787832"/>
            <a:ext cx="7128041" cy="3891935"/>
          </a:xfrm>
          <a:prstGeom prst="rect">
            <a:avLst/>
          </a:prstGeom>
        </p:spPr>
      </p:pic>
      <p:sp>
        <p:nvSpPr>
          <p:cNvPr id="10" name="TextBox 9">
            <a:extLst>
              <a:ext uri="{FF2B5EF4-FFF2-40B4-BE49-F238E27FC236}">
                <a16:creationId xmlns:a16="http://schemas.microsoft.com/office/drawing/2014/main" id="{6FB52A9F-0F34-D464-80FF-AA730362AD03}"/>
              </a:ext>
            </a:extLst>
          </p:cNvPr>
          <p:cNvSpPr txBox="1"/>
          <p:nvPr/>
        </p:nvSpPr>
        <p:spPr>
          <a:xfrm>
            <a:off x="3640347" y="5768196"/>
            <a:ext cx="4572000" cy="307777"/>
          </a:xfrm>
          <a:prstGeom prst="rect">
            <a:avLst/>
          </a:prstGeom>
          <a:noFill/>
        </p:spPr>
        <p:txBody>
          <a:bodyPr wrap="square">
            <a:spAutoFit/>
          </a:bodyPr>
          <a:lstStyle/>
          <a:p>
            <a:r>
              <a:rPr lang="en-US" sz="1400" i="1" dirty="0">
                <a:latin typeface="Times New Roman" panose="02020603050405020304" pitchFamily="18" charset="0"/>
                <a:cs typeface="Times New Roman" panose="02020603050405020304" pitchFamily="18" charset="0"/>
              </a:rPr>
              <a:t>Fig 8.2- Product List</a:t>
            </a:r>
            <a:endParaRPr lang="en-IN" sz="1400" i="1" dirty="0"/>
          </a:p>
        </p:txBody>
      </p:sp>
    </p:spTree>
    <p:extLst>
      <p:ext uri="{BB962C8B-B14F-4D97-AF65-F5344CB8AC3E}">
        <p14:creationId xmlns:p14="http://schemas.microsoft.com/office/powerpoint/2010/main" val="1480542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2144-228C-D143-AF95-B0CEC49574C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09D242-F008-7A50-BA54-2E35A55C3F66}"/>
              </a:ext>
            </a:extLst>
          </p:cNvPr>
          <p:cNvSpPr>
            <a:spLocks noGrp="1"/>
          </p:cNvSpPr>
          <p:nvPr>
            <p:ph type="sldNum" sz="quarter" idx="12"/>
          </p:nvPr>
        </p:nvSpPr>
        <p:spPr/>
        <p:txBody>
          <a:bodyPr/>
          <a:lstStyle/>
          <a:p>
            <a:fld id="{1E3669FF-A95B-4CED-B2F5-060587381DD8}" type="slidenum">
              <a:rPr lang="en-IN" smtClean="0"/>
              <a:t>23</a:t>
            </a:fld>
            <a:endParaRPr lang="en-IN"/>
          </a:p>
        </p:txBody>
      </p:sp>
      <p:sp>
        <p:nvSpPr>
          <p:cNvPr id="3" name="Title 1">
            <a:extLst>
              <a:ext uri="{FF2B5EF4-FFF2-40B4-BE49-F238E27FC236}">
                <a16:creationId xmlns:a16="http://schemas.microsoft.com/office/drawing/2014/main" id="{A1CF4D4F-9554-25BA-FB2F-037F1D6BA94D}"/>
              </a:ext>
            </a:extLst>
          </p:cNvPr>
          <p:cNvSpPr txBox="1">
            <a:spLocks/>
          </p:cNvSpPr>
          <p:nvPr/>
        </p:nvSpPr>
        <p:spPr>
          <a:xfrm>
            <a:off x="286138" y="491827"/>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2E14C808-E0AF-2E54-0221-23C3DD9B5CBD}"/>
              </a:ext>
            </a:extLst>
          </p:cNvPr>
          <p:cNvSpPr txBox="1">
            <a:spLocks/>
          </p:cNvSpPr>
          <p:nvPr/>
        </p:nvSpPr>
        <p:spPr>
          <a:xfrm>
            <a:off x="286138" y="793101"/>
            <a:ext cx="8756262" cy="57296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500"/>
              </a:spcBef>
              <a:buNone/>
            </a:pPr>
            <a:endParaRPr lang="en-US" sz="1600" dirty="0">
              <a:latin typeface="Times New Roman" panose="02020603050405020304" pitchFamily="18" charset="0"/>
              <a:cs typeface="Times New Roman" panose="02020603050405020304" pitchFamily="18" charset="0"/>
            </a:endParaRPr>
          </a:p>
          <a:p>
            <a:pPr>
              <a:lnSpc>
                <a:spcPct val="100000"/>
              </a:lnSpc>
              <a:spcBef>
                <a:spcPts val="500"/>
              </a:spcBef>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enable real-time product search using a smart shopping cart equipped with a display, UWB tag, and LoRa transceiver.</a:t>
            </a:r>
          </a:p>
          <a:p>
            <a:pPr marL="0" indent="0">
              <a:lnSpc>
                <a:spcPct val="100000"/>
              </a:lnSpc>
              <a:spcBef>
                <a:spcPts val="500"/>
              </a:spcBef>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2" name="AutoShape 2">
            <a:extLst>
              <a:ext uri="{FF2B5EF4-FFF2-40B4-BE49-F238E27FC236}">
                <a16:creationId xmlns:a16="http://schemas.microsoft.com/office/drawing/2014/main" id="{5751AD5F-FF03-52DA-9599-E6F56E78469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a:extLst>
              <a:ext uri="{FF2B5EF4-FFF2-40B4-BE49-F238E27FC236}">
                <a16:creationId xmlns:a16="http://schemas.microsoft.com/office/drawing/2014/main" id="{F5D07DE6-D579-7CD0-E4E6-AF1BC1017FD4}"/>
              </a:ext>
            </a:extLst>
          </p:cNvPr>
          <p:cNvPicPr>
            <a:picLocks noChangeAspect="1"/>
          </p:cNvPicPr>
          <p:nvPr/>
        </p:nvPicPr>
        <p:blipFill>
          <a:blip r:embed="rId2">
            <a:extLst>
              <a:ext uri="{28A0092B-C50C-407E-A947-70E740481C1C}">
                <a14:useLocalDpi xmlns:a14="http://schemas.microsoft.com/office/drawing/2010/main" val="0"/>
              </a:ext>
            </a:extLst>
          </a:blip>
          <a:srcRect t="11256" b="7486"/>
          <a:stretch>
            <a:fillRect/>
          </a:stretch>
        </p:blipFill>
        <p:spPr>
          <a:xfrm>
            <a:off x="378617" y="1968761"/>
            <a:ext cx="3726853" cy="2828492"/>
          </a:xfrm>
          <a:prstGeom prst="rect">
            <a:avLst/>
          </a:prstGeom>
        </p:spPr>
      </p:pic>
      <p:sp>
        <p:nvSpPr>
          <p:cNvPr id="16" name="TextBox 15">
            <a:extLst>
              <a:ext uri="{FF2B5EF4-FFF2-40B4-BE49-F238E27FC236}">
                <a16:creationId xmlns:a16="http://schemas.microsoft.com/office/drawing/2014/main" id="{4270FADD-F5B4-3BD8-A44C-CE88331AC62E}"/>
              </a:ext>
            </a:extLst>
          </p:cNvPr>
          <p:cNvSpPr txBox="1"/>
          <p:nvPr/>
        </p:nvSpPr>
        <p:spPr>
          <a:xfrm>
            <a:off x="2985796" y="5079219"/>
            <a:ext cx="4572000" cy="338554"/>
          </a:xfrm>
          <a:prstGeom prst="rect">
            <a:avLst/>
          </a:prstGeom>
          <a:noFill/>
        </p:spPr>
        <p:txBody>
          <a:bodyPr wrap="square">
            <a:spAutoFit/>
          </a:bodyPr>
          <a:lstStyle/>
          <a:p>
            <a:r>
              <a:rPr lang="en-US" sz="1600" i="1" dirty="0">
                <a:latin typeface="Times New Roman" panose="02020603050405020304" pitchFamily="18" charset="0"/>
                <a:cs typeface="Times New Roman" panose="02020603050405020304" pitchFamily="18" charset="0"/>
              </a:rPr>
              <a:t>Fig 8.3- Sub Product List and product cart list.</a:t>
            </a:r>
            <a:endParaRPr lang="en-IN" sz="1600" i="1" dirty="0"/>
          </a:p>
        </p:txBody>
      </p:sp>
      <p:pic>
        <p:nvPicPr>
          <p:cNvPr id="7" name="Picture 6">
            <a:extLst>
              <a:ext uri="{FF2B5EF4-FFF2-40B4-BE49-F238E27FC236}">
                <a16:creationId xmlns:a16="http://schemas.microsoft.com/office/drawing/2014/main" id="{A2CC35A5-6BFC-3DA0-E0DD-52A97A8A5827}"/>
              </a:ext>
            </a:extLst>
          </p:cNvPr>
          <p:cNvPicPr>
            <a:picLocks noChangeAspect="1"/>
          </p:cNvPicPr>
          <p:nvPr/>
        </p:nvPicPr>
        <p:blipFill>
          <a:blip r:embed="rId3">
            <a:extLst>
              <a:ext uri="{28A0092B-C50C-407E-A947-70E740481C1C}">
                <a14:useLocalDpi xmlns:a14="http://schemas.microsoft.com/office/drawing/2010/main" val="0"/>
              </a:ext>
            </a:extLst>
          </a:blip>
          <a:srcRect l="11940" t="15102" r="1632" b="10205"/>
          <a:stretch>
            <a:fillRect/>
          </a:stretch>
        </p:blipFill>
        <p:spPr>
          <a:xfrm>
            <a:off x="4315995" y="1959429"/>
            <a:ext cx="4361780" cy="2827175"/>
          </a:xfrm>
          <a:prstGeom prst="rect">
            <a:avLst/>
          </a:prstGeom>
        </p:spPr>
      </p:pic>
    </p:spTree>
    <p:extLst>
      <p:ext uri="{BB962C8B-B14F-4D97-AF65-F5344CB8AC3E}">
        <p14:creationId xmlns:p14="http://schemas.microsoft.com/office/powerpoint/2010/main" val="3325083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774E1-7478-CC99-ED9B-6C4F6A6EF75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32343E-9C78-647A-DE8E-425F70C766A1}"/>
              </a:ext>
            </a:extLst>
          </p:cNvPr>
          <p:cNvSpPr>
            <a:spLocks noGrp="1"/>
          </p:cNvSpPr>
          <p:nvPr>
            <p:ph type="sldNum" sz="quarter" idx="12"/>
          </p:nvPr>
        </p:nvSpPr>
        <p:spPr/>
        <p:txBody>
          <a:bodyPr/>
          <a:lstStyle/>
          <a:p>
            <a:fld id="{1E3669FF-A95B-4CED-B2F5-060587381DD8}" type="slidenum">
              <a:rPr lang="en-IN" smtClean="0"/>
              <a:t>24</a:t>
            </a:fld>
            <a:endParaRPr lang="en-IN"/>
          </a:p>
        </p:txBody>
      </p:sp>
      <p:sp>
        <p:nvSpPr>
          <p:cNvPr id="3" name="Title 1">
            <a:extLst>
              <a:ext uri="{FF2B5EF4-FFF2-40B4-BE49-F238E27FC236}">
                <a16:creationId xmlns:a16="http://schemas.microsoft.com/office/drawing/2014/main" id="{6420AC28-BF28-AC30-2422-B70C1C4E97A0}"/>
              </a:ext>
            </a:extLst>
          </p:cNvPr>
          <p:cNvSpPr txBox="1">
            <a:spLocks/>
          </p:cNvSpPr>
          <p:nvPr/>
        </p:nvSpPr>
        <p:spPr>
          <a:xfrm>
            <a:off x="286138" y="491827"/>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23F4463F-AD1D-1F6C-BCB6-BCFE6B7357DD}"/>
              </a:ext>
            </a:extLst>
          </p:cNvPr>
          <p:cNvSpPr txBox="1">
            <a:spLocks/>
          </p:cNvSpPr>
          <p:nvPr/>
        </p:nvSpPr>
        <p:spPr>
          <a:xfrm>
            <a:off x="286138" y="793101"/>
            <a:ext cx="8756262" cy="57296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500"/>
              </a:spcBef>
              <a:buNone/>
            </a:pPr>
            <a:endParaRPr lang="en-US" sz="1600" dirty="0">
              <a:latin typeface="Times New Roman" panose="02020603050405020304" pitchFamily="18" charset="0"/>
              <a:cs typeface="Times New Roman" panose="02020603050405020304" pitchFamily="18" charset="0"/>
            </a:endParaRPr>
          </a:p>
          <a:p>
            <a:pPr>
              <a:lnSpc>
                <a:spcPct val="100000"/>
              </a:lnSpc>
              <a:spcBef>
                <a:spcPts val="500"/>
              </a:spcBef>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Successfully developed a graphical indoor navigation interface for different store zones.</a:t>
            </a:r>
          </a:p>
          <a:p>
            <a:pPr>
              <a:lnSpc>
                <a:spcPct val="100000"/>
              </a:lnSpc>
              <a:spcBef>
                <a:spcPts val="500"/>
              </a:spcBef>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2" name="AutoShape 2">
            <a:extLst>
              <a:ext uri="{FF2B5EF4-FFF2-40B4-BE49-F238E27FC236}">
                <a16:creationId xmlns:a16="http://schemas.microsoft.com/office/drawing/2014/main" id="{DC05C09E-6D2D-A3BC-A253-E5814A0A094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a:extLst>
              <a:ext uri="{FF2B5EF4-FFF2-40B4-BE49-F238E27FC236}">
                <a16:creationId xmlns:a16="http://schemas.microsoft.com/office/drawing/2014/main" id="{2593589C-413B-6DEE-344A-0C0A8C20923C}"/>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 name="TextBox 13">
            <a:extLst>
              <a:ext uri="{FF2B5EF4-FFF2-40B4-BE49-F238E27FC236}">
                <a16:creationId xmlns:a16="http://schemas.microsoft.com/office/drawing/2014/main" id="{82310285-61E4-7443-E2BC-D7FD367FD8BD}"/>
              </a:ext>
            </a:extLst>
          </p:cNvPr>
          <p:cNvSpPr txBox="1"/>
          <p:nvPr/>
        </p:nvSpPr>
        <p:spPr>
          <a:xfrm>
            <a:off x="2378269" y="5490326"/>
            <a:ext cx="4572000" cy="338554"/>
          </a:xfrm>
          <a:prstGeom prst="rect">
            <a:avLst/>
          </a:prstGeom>
          <a:noFill/>
        </p:spPr>
        <p:txBody>
          <a:bodyPr wrap="square">
            <a:spAutoFit/>
          </a:bodyPr>
          <a:lstStyle/>
          <a:p>
            <a:pPr>
              <a:lnSpc>
                <a:spcPct val="100000"/>
              </a:lnSpc>
              <a:spcBef>
                <a:spcPts val="500"/>
              </a:spcBef>
            </a:pPr>
            <a:r>
              <a:rPr lang="en-US" sz="1600" i="1" dirty="0">
                <a:latin typeface="Times New Roman" panose="02020603050405020304" pitchFamily="18" charset="0"/>
                <a:cs typeface="Times New Roman" panose="02020603050405020304" pitchFamily="18" charset="0"/>
              </a:rPr>
              <a:t>Fig 8.5- </a:t>
            </a:r>
            <a:r>
              <a:rPr lang="en-IN" sz="1600" i="1" dirty="0">
                <a:latin typeface="Times New Roman" panose="02020603050405020304" pitchFamily="18" charset="0"/>
                <a:cs typeface="Times New Roman" panose="02020603050405020304" pitchFamily="18" charset="0"/>
              </a:rPr>
              <a:t>Zone-Level Indoor Navigation Interface</a:t>
            </a:r>
            <a:endParaRPr lang="en-US" sz="1600" i="1" dirty="0">
              <a:latin typeface="Times New Roman" panose="02020603050405020304" pitchFamily="18" charset="0"/>
              <a:cs typeface="Times New Roman" panose="02020603050405020304" pitchFamily="18" charset="0"/>
            </a:endParaRPr>
          </a:p>
        </p:txBody>
      </p:sp>
      <p:sp>
        <p:nvSpPr>
          <p:cNvPr id="6" name="AutoShape 2">
            <a:extLst>
              <a:ext uri="{FF2B5EF4-FFF2-40B4-BE49-F238E27FC236}">
                <a16:creationId xmlns:a16="http://schemas.microsoft.com/office/drawing/2014/main" id="{C1C265C3-6191-8F17-E855-EB1C9DEDC5C3}"/>
              </a:ext>
            </a:extLst>
          </p:cNvPr>
          <p:cNvSpPr>
            <a:spLocks noChangeAspect="1" noChangeArrowheads="1"/>
          </p:cNvSpPr>
          <p:nvPr/>
        </p:nvSpPr>
        <p:spPr bwMode="auto">
          <a:xfrm>
            <a:off x="1984075" y="282860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513ED4C2-157F-6BA2-57F7-290036D6BA32}"/>
              </a:ext>
            </a:extLst>
          </p:cNvPr>
          <p:cNvPicPr>
            <a:picLocks noChangeAspect="1"/>
          </p:cNvPicPr>
          <p:nvPr/>
        </p:nvPicPr>
        <p:blipFill>
          <a:blip r:embed="rId2"/>
          <a:stretch>
            <a:fillRect/>
          </a:stretch>
        </p:blipFill>
        <p:spPr>
          <a:xfrm>
            <a:off x="1132006" y="1676679"/>
            <a:ext cx="6390228" cy="3504641"/>
          </a:xfrm>
          <a:prstGeom prst="rect">
            <a:avLst/>
          </a:prstGeom>
        </p:spPr>
      </p:pic>
    </p:spTree>
    <p:extLst>
      <p:ext uri="{BB962C8B-B14F-4D97-AF65-F5344CB8AC3E}">
        <p14:creationId xmlns:p14="http://schemas.microsoft.com/office/powerpoint/2010/main" val="591424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C9035-9B43-D38F-F0EC-F06117315E3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D557D4-22F9-E319-4437-B0601325B1D8}"/>
              </a:ext>
            </a:extLst>
          </p:cNvPr>
          <p:cNvSpPr>
            <a:spLocks noGrp="1"/>
          </p:cNvSpPr>
          <p:nvPr>
            <p:ph type="sldNum" sz="quarter" idx="12"/>
          </p:nvPr>
        </p:nvSpPr>
        <p:spPr/>
        <p:txBody>
          <a:bodyPr/>
          <a:lstStyle/>
          <a:p>
            <a:fld id="{1E3669FF-A95B-4CED-B2F5-060587381DD8}" type="slidenum">
              <a:rPr lang="en-IN" smtClean="0"/>
              <a:t>25</a:t>
            </a:fld>
            <a:endParaRPr lang="en-IN"/>
          </a:p>
        </p:txBody>
      </p:sp>
      <p:sp>
        <p:nvSpPr>
          <p:cNvPr id="3" name="Title 1">
            <a:extLst>
              <a:ext uri="{FF2B5EF4-FFF2-40B4-BE49-F238E27FC236}">
                <a16:creationId xmlns:a16="http://schemas.microsoft.com/office/drawing/2014/main" id="{2860F884-051A-EA54-0003-C1DF19292096}"/>
              </a:ext>
            </a:extLst>
          </p:cNvPr>
          <p:cNvSpPr txBox="1">
            <a:spLocks/>
          </p:cNvSpPr>
          <p:nvPr/>
        </p:nvSpPr>
        <p:spPr>
          <a:xfrm>
            <a:off x="286138" y="491827"/>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084DCB34-BC7B-3E11-3716-7A03CA6934DE}"/>
              </a:ext>
            </a:extLst>
          </p:cNvPr>
          <p:cNvSpPr txBox="1">
            <a:spLocks/>
          </p:cNvSpPr>
          <p:nvPr/>
        </p:nvSpPr>
        <p:spPr>
          <a:xfrm>
            <a:off x="286138" y="793101"/>
            <a:ext cx="8756262" cy="57296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500"/>
              </a:spcBef>
              <a:buNone/>
            </a:pPr>
            <a:endParaRPr lang="en-US" sz="1600" dirty="0">
              <a:latin typeface="Times New Roman" panose="02020603050405020304" pitchFamily="18" charset="0"/>
              <a:cs typeface="Times New Roman" panose="02020603050405020304" pitchFamily="18" charset="0"/>
            </a:endParaRPr>
          </a:p>
          <a:p>
            <a:pPr>
              <a:lnSpc>
                <a:spcPct val="100000"/>
              </a:lnSpc>
              <a:spcBef>
                <a:spcPts val="500"/>
              </a:spcBef>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Real-time path guidance is generated from the current position to the selected product location.</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2" name="AutoShape 2">
            <a:extLst>
              <a:ext uri="{FF2B5EF4-FFF2-40B4-BE49-F238E27FC236}">
                <a16:creationId xmlns:a16="http://schemas.microsoft.com/office/drawing/2014/main" id="{65228313-044C-B2E1-91F3-BE5A011C715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a:extLst>
              <a:ext uri="{FF2B5EF4-FFF2-40B4-BE49-F238E27FC236}">
                <a16:creationId xmlns:a16="http://schemas.microsoft.com/office/drawing/2014/main" id="{7818146A-461B-484B-AB5D-B4FEC19125BF}"/>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 name="TextBox 13">
            <a:extLst>
              <a:ext uri="{FF2B5EF4-FFF2-40B4-BE49-F238E27FC236}">
                <a16:creationId xmlns:a16="http://schemas.microsoft.com/office/drawing/2014/main" id="{1CAED31D-DBAF-F4F6-C5D5-1202537F23C4}"/>
              </a:ext>
            </a:extLst>
          </p:cNvPr>
          <p:cNvSpPr txBox="1"/>
          <p:nvPr/>
        </p:nvSpPr>
        <p:spPr>
          <a:xfrm>
            <a:off x="2378269" y="5568409"/>
            <a:ext cx="4572000" cy="338554"/>
          </a:xfrm>
          <a:prstGeom prst="rect">
            <a:avLst/>
          </a:prstGeom>
          <a:noFill/>
        </p:spPr>
        <p:txBody>
          <a:bodyPr wrap="square">
            <a:spAutoFit/>
          </a:bodyPr>
          <a:lstStyle/>
          <a:p>
            <a:pPr>
              <a:lnSpc>
                <a:spcPct val="100000"/>
              </a:lnSpc>
              <a:spcBef>
                <a:spcPts val="500"/>
              </a:spcBef>
            </a:pPr>
            <a:r>
              <a:rPr lang="en-US" sz="1600" i="1" dirty="0">
                <a:latin typeface="Times New Roman" panose="02020603050405020304" pitchFamily="18" charset="0"/>
                <a:cs typeface="Times New Roman" panose="02020603050405020304" pitchFamily="18" charset="0"/>
              </a:rPr>
              <a:t>Fig 8.6- Product Rack Navigation in Zone wise.</a:t>
            </a:r>
          </a:p>
        </p:txBody>
      </p:sp>
      <p:sp>
        <p:nvSpPr>
          <p:cNvPr id="6" name="AutoShape 2">
            <a:extLst>
              <a:ext uri="{FF2B5EF4-FFF2-40B4-BE49-F238E27FC236}">
                <a16:creationId xmlns:a16="http://schemas.microsoft.com/office/drawing/2014/main" id="{DA9CE739-EDDE-2DB9-6A49-4A0425E67E2A}"/>
              </a:ext>
            </a:extLst>
          </p:cNvPr>
          <p:cNvSpPr>
            <a:spLocks noChangeAspect="1" noChangeArrowheads="1"/>
          </p:cNvSpPr>
          <p:nvPr/>
        </p:nvSpPr>
        <p:spPr bwMode="auto">
          <a:xfrm>
            <a:off x="1984075" y="282860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a:extLst>
              <a:ext uri="{FF2B5EF4-FFF2-40B4-BE49-F238E27FC236}">
                <a16:creationId xmlns:a16="http://schemas.microsoft.com/office/drawing/2014/main" id="{023160D7-05A1-FAE5-BDF4-75C3C3C9656A}"/>
              </a:ext>
            </a:extLst>
          </p:cNvPr>
          <p:cNvPicPr>
            <a:picLocks noChangeAspect="1"/>
          </p:cNvPicPr>
          <p:nvPr/>
        </p:nvPicPr>
        <p:blipFill>
          <a:blip r:embed="rId2"/>
          <a:srcRect l="3192" r="4811"/>
          <a:stretch>
            <a:fillRect/>
          </a:stretch>
        </p:blipFill>
        <p:spPr>
          <a:xfrm>
            <a:off x="130628" y="1940769"/>
            <a:ext cx="3021165" cy="3032448"/>
          </a:xfrm>
          <a:prstGeom prst="rect">
            <a:avLst/>
          </a:prstGeom>
        </p:spPr>
      </p:pic>
      <p:pic>
        <p:nvPicPr>
          <p:cNvPr id="8" name="Picture 7">
            <a:extLst>
              <a:ext uri="{FF2B5EF4-FFF2-40B4-BE49-F238E27FC236}">
                <a16:creationId xmlns:a16="http://schemas.microsoft.com/office/drawing/2014/main" id="{07F4E5B1-E426-1C8A-E66A-6540DC94876D}"/>
              </a:ext>
            </a:extLst>
          </p:cNvPr>
          <p:cNvPicPr>
            <a:picLocks noChangeAspect="1"/>
          </p:cNvPicPr>
          <p:nvPr/>
        </p:nvPicPr>
        <p:blipFill>
          <a:blip r:embed="rId3"/>
          <a:srcRect l="2466" t="4581" b="8359"/>
          <a:stretch>
            <a:fillRect/>
          </a:stretch>
        </p:blipFill>
        <p:spPr>
          <a:xfrm>
            <a:off x="6139545" y="1931438"/>
            <a:ext cx="2848654" cy="3060440"/>
          </a:xfrm>
          <a:prstGeom prst="rect">
            <a:avLst/>
          </a:prstGeom>
        </p:spPr>
      </p:pic>
      <p:pic>
        <p:nvPicPr>
          <p:cNvPr id="10" name="Picture 9">
            <a:extLst>
              <a:ext uri="{FF2B5EF4-FFF2-40B4-BE49-F238E27FC236}">
                <a16:creationId xmlns:a16="http://schemas.microsoft.com/office/drawing/2014/main" id="{8AEF9C92-9B7E-CACB-EA06-5767DDF1FE2C}"/>
              </a:ext>
            </a:extLst>
          </p:cNvPr>
          <p:cNvPicPr>
            <a:picLocks noChangeAspect="1"/>
          </p:cNvPicPr>
          <p:nvPr/>
        </p:nvPicPr>
        <p:blipFill>
          <a:blip r:embed="rId4">
            <a:extLst>
              <a:ext uri="{28A0092B-C50C-407E-A947-70E740481C1C}">
                <a14:useLocalDpi xmlns:a14="http://schemas.microsoft.com/office/drawing/2010/main" val="0"/>
              </a:ext>
            </a:extLst>
          </a:blip>
          <a:srcRect l="5409" t="17416" r="8877" b="17278"/>
          <a:stretch>
            <a:fillRect/>
          </a:stretch>
        </p:blipFill>
        <p:spPr>
          <a:xfrm rot="10800000">
            <a:off x="3226055" y="1940765"/>
            <a:ext cx="2842240" cy="3032450"/>
          </a:xfrm>
          <a:prstGeom prst="rect">
            <a:avLst/>
          </a:prstGeom>
        </p:spPr>
      </p:pic>
    </p:spTree>
    <p:extLst>
      <p:ext uri="{BB962C8B-B14F-4D97-AF65-F5344CB8AC3E}">
        <p14:creationId xmlns:p14="http://schemas.microsoft.com/office/powerpoint/2010/main" val="13975362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478A3-9DDF-CE4B-7AD2-202849DC69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B3AD9E-87D3-52A6-7F6D-74463ABFB178}"/>
              </a:ext>
            </a:extLst>
          </p:cNvPr>
          <p:cNvSpPr>
            <a:spLocks noGrp="1"/>
          </p:cNvSpPr>
          <p:nvPr>
            <p:ph type="sldNum" sz="quarter" idx="12"/>
          </p:nvPr>
        </p:nvSpPr>
        <p:spPr/>
        <p:txBody>
          <a:bodyPr/>
          <a:lstStyle/>
          <a:p>
            <a:fld id="{1E3669FF-A95B-4CED-B2F5-060587381DD8}" type="slidenum">
              <a:rPr lang="en-IN" smtClean="0"/>
              <a:t>26</a:t>
            </a:fld>
            <a:endParaRPr lang="en-IN"/>
          </a:p>
        </p:txBody>
      </p:sp>
      <p:sp>
        <p:nvSpPr>
          <p:cNvPr id="3" name="Title 1">
            <a:extLst>
              <a:ext uri="{FF2B5EF4-FFF2-40B4-BE49-F238E27FC236}">
                <a16:creationId xmlns:a16="http://schemas.microsoft.com/office/drawing/2014/main" id="{004EA32A-E077-9754-C64D-078A2DCFE6B8}"/>
              </a:ext>
            </a:extLst>
          </p:cNvPr>
          <p:cNvSpPr txBox="1">
            <a:spLocks/>
          </p:cNvSpPr>
          <p:nvPr/>
        </p:nvSpPr>
        <p:spPr>
          <a:xfrm>
            <a:off x="286138" y="491827"/>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18185B3B-0BA2-77F8-8BAD-636951D74BFF}"/>
              </a:ext>
            </a:extLst>
          </p:cNvPr>
          <p:cNvSpPr txBox="1">
            <a:spLocks/>
          </p:cNvSpPr>
          <p:nvPr/>
        </p:nvSpPr>
        <p:spPr>
          <a:xfrm>
            <a:off x="286138" y="793101"/>
            <a:ext cx="8756262" cy="57296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500"/>
              </a:spcBef>
              <a:buNone/>
            </a:pPr>
            <a:endParaRPr lang="en-US" sz="1600" dirty="0">
              <a:latin typeface="Times New Roman" panose="02020603050405020304" pitchFamily="18" charset="0"/>
              <a:cs typeface="Times New Roman" panose="02020603050405020304" pitchFamily="18" charset="0"/>
            </a:endParaRPr>
          </a:p>
          <a:p>
            <a:pPr>
              <a:lnSpc>
                <a:spcPct val="100000"/>
              </a:lnSpc>
              <a:spcBef>
                <a:spcPts val="500"/>
              </a:spcBef>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ensure meter-level positioning accuracy within each product zone using UWB technology.</a:t>
            </a:r>
          </a:p>
          <a:p>
            <a:pPr>
              <a:lnSpc>
                <a:spcPct val="100000"/>
              </a:lnSpc>
              <a:spcBef>
                <a:spcPts val="500"/>
              </a:spcBef>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2" name="AutoShape 2">
            <a:extLst>
              <a:ext uri="{FF2B5EF4-FFF2-40B4-BE49-F238E27FC236}">
                <a16:creationId xmlns:a16="http://schemas.microsoft.com/office/drawing/2014/main" id="{E5907972-68F4-C7A9-37D3-9B716427622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a:extLst>
              <a:ext uri="{FF2B5EF4-FFF2-40B4-BE49-F238E27FC236}">
                <a16:creationId xmlns:a16="http://schemas.microsoft.com/office/drawing/2014/main" id="{99349887-EC2B-478A-D3AD-50F58758753E}"/>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152CF520-58E3-ED78-7736-1B34FC760D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138" y="1853960"/>
            <a:ext cx="3942272" cy="3600810"/>
          </a:xfrm>
          <a:prstGeom prst="rect">
            <a:avLst/>
          </a:prstGeom>
        </p:spPr>
      </p:pic>
      <p:pic>
        <p:nvPicPr>
          <p:cNvPr id="12" name="Picture 11">
            <a:extLst>
              <a:ext uri="{FF2B5EF4-FFF2-40B4-BE49-F238E27FC236}">
                <a16:creationId xmlns:a16="http://schemas.microsoft.com/office/drawing/2014/main" id="{6EB1E1A9-F0C0-8D91-C8E7-B069DD8D46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3061" y="1853959"/>
            <a:ext cx="4152555" cy="3600809"/>
          </a:xfrm>
          <a:prstGeom prst="rect">
            <a:avLst/>
          </a:prstGeom>
        </p:spPr>
      </p:pic>
      <p:sp>
        <p:nvSpPr>
          <p:cNvPr id="14" name="TextBox 13">
            <a:extLst>
              <a:ext uri="{FF2B5EF4-FFF2-40B4-BE49-F238E27FC236}">
                <a16:creationId xmlns:a16="http://schemas.microsoft.com/office/drawing/2014/main" id="{6D223A3B-5373-2EE9-095F-9FD9A578F6FC}"/>
              </a:ext>
            </a:extLst>
          </p:cNvPr>
          <p:cNvSpPr txBox="1"/>
          <p:nvPr/>
        </p:nvSpPr>
        <p:spPr>
          <a:xfrm>
            <a:off x="2950234" y="5563277"/>
            <a:ext cx="4572000" cy="710451"/>
          </a:xfrm>
          <a:prstGeom prst="rect">
            <a:avLst/>
          </a:prstGeom>
          <a:noFill/>
        </p:spPr>
        <p:txBody>
          <a:bodyPr wrap="square">
            <a:spAutoFit/>
          </a:bodyPr>
          <a:lstStyle/>
          <a:p>
            <a:pPr>
              <a:lnSpc>
                <a:spcPct val="100000"/>
              </a:lnSpc>
              <a:spcBef>
                <a:spcPts val="500"/>
              </a:spcBef>
            </a:pPr>
            <a:r>
              <a:rPr lang="en-US" sz="1600" i="1" dirty="0">
                <a:latin typeface="Times New Roman" panose="02020603050405020304" pitchFamily="18" charset="0"/>
                <a:cs typeface="Times New Roman" panose="02020603050405020304" pitchFamily="18" charset="0"/>
              </a:rPr>
              <a:t>Fig 8.4- Meter Level Positioning</a:t>
            </a:r>
          </a:p>
          <a:p>
            <a:pPr>
              <a:lnSpc>
                <a:spcPct val="100000"/>
              </a:lnSpc>
              <a:spcBef>
                <a:spcPts val="500"/>
              </a:spcBef>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73295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B0C4B-266D-4D91-10A3-8FF31C6D068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F400AF-F55A-C9B1-D8D4-6193DCC5BC62}"/>
              </a:ext>
            </a:extLst>
          </p:cNvPr>
          <p:cNvSpPr>
            <a:spLocks noGrp="1"/>
          </p:cNvSpPr>
          <p:nvPr>
            <p:ph type="sldNum" sz="quarter" idx="12"/>
          </p:nvPr>
        </p:nvSpPr>
        <p:spPr/>
        <p:txBody>
          <a:bodyPr/>
          <a:lstStyle/>
          <a:p>
            <a:fld id="{1E3669FF-A95B-4CED-B2F5-060587381DD8}" type="slidenum">
              <a:rPr lang="en-IN" smtClean="0"/>
              <a:t>27</a:t>
            </a:fld>
            <a:endParaRPr lang="en-IN"/>
          </a:p>
        </p:txBody>
      </p:sp>
      <p:sp>
        <p:nvSpPr>
          <p:cNvPr id="3" name="Title 1">
            <a:extLst>
              <a:ext uri="{FF2B5EF4-FFF2-40B4-BE49-F238E27FC236}">
                <a16:creationId xmlns:a16="http://schemas.microsoft.com/office/drawing/2014/main" id="{57294B68-7493-16F2-9A44-E43210DF66CA}"/>
              </a:ext>
            </a:extLst>
          </p:cNvPr>
          <p:cNvSpPr txBox="1">
            <a:spLocks/>
          </p:cNvSpPr>
          <p:nvPr/>
        </p:nvSpPr>
        <p:spPr>
          <a:xfrm>
            <a:off x="286138" y="491827"/>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6844AEA9-439B-DCB4-C044-E61FB05F8067}"/>
              </a:ext>
            </a:extLst>
          </p:cNvPr>
          <p:cNvSpPr txBox="1">
            <a:spLocks/>
          </p:cNvSpPr>
          <p:nvPr/>
        </p:nvSpPr>
        <p:spPr>
          <a:xfrm>
            <a:off x="286138" y="793101"/>
            <a:ext cx="8756262" cy="57296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500"/>
              </a:spcBef>
              <a:buNone/>
            </a:pPr>
            <a:endParaRPr lang="en-US" sz="1600" dirty="0">
              <a:latin typeface="Times New Roman" panose="02020603050405020304" pitchFamily="18" charset="0"/>
              <a:cs typeface="Times New Roman" panose="02020603050405020304" pitchFamily="18" charset="0"/>
            </a:endParaRPr>
          </a:p>
          <a:p>
            <a:pPr>
              <a:lnSpc>
                <a:spcPct val="100000"/>
              </a:lnSpc>
              <a:spcBef>
                <a:spcPts val="500"/>
              </a:spcBef>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achieve store-wide communication and data exchange across large indoor space.</a:t>
            </a:r>
          </a:p>
          <a:p>
            <a:pPr>
              <a:lnSpc>
                <a:spcPct val="100000"/>
              </a:lnSpc>
              <a:spcBef>
                <a:spcPts val="500"/>
              </a:spcBef>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nSpc>
                <a:spcPct val="100000"/>
              </a:lnSpc>
              <a:spcBef>
                <a:spcPts val="500"/>
              </a:spcBef>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2" name="AutoShape 2">
            <a:extLst>
              <a:ext uri="{FF2B5EF4-FFF2-40B4-BE49-F238E27FC236}">
                <a16:creationId xmlns:a16="http://schemas.microsoft.com/office/drawing/2014/main" id="{2DAA0902-2897-2B7A-7C8D-5A3C09DF28E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a:extLst>
              <a:ext uri="{FF2B5EF4-FFF2-40B4-BE49-F238E27FC236}">
                <a16:creationId xmlns:a16="http://schemas.microsoft.com/office/drawing/2014/main" id="{8C164DF7-F37D-D3CD-A55F-1B453D93790B}"/>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 name="TextBox 13">
            <a:extLst>
              <a:ext uri="{FF2B5EF4-FFF2-40B4-BE49-F238E27FC236}">
                <a16:creationId xmlns:a16="http://schemas.microsoft.com/office/drawing/2014/main" id="{1B4BAF35-6EFC-045E-A0BD-3D6048922E76}"/>
              </a:ext>
            </a:extLst>
          </p:cNvPr>
          <p:cNvSpPr txBox="1"/>
          <p:nvPr/>
        </p:nvSpPr>
        <p:spPr>
          <a:xfrm>
            <a:off x="648446" y="6021049"/>
            <a:ext cx="8587809" cy="338554"/>
          </a:xfrm>
          <a:prstGeom prst="rect">
            <a:avLst/>
          </a:prstGeom>
          <a:noFill/>
        </p:spPr>
        <p:txBody>
          <a:bodyPr wrap="square">
            <a:spAutoFit/>
          </a:bodyPr>
          <a:lstStyle/>
          <a:p>
            <a:pPr>
              <a:lnSpc>
                <a:spcPct val="100000"/>
              </a:lnSpc>
              <a:spcBef>
                <a:spcPts val="500"/>
              </a:spcBef>
            </a:pPr>
            <a:r>
              <a:rPr lang="en-US" sz="1600" i="1" dirty="0">
                <a:latin typeface="Times New Roman" panose="02020603050405020304" pitchFamily="18" charset="0"/>
                <a:cs typeface="Times New Roman" panose="02020603050405020304" pitchFamily="18" charset="0"/>
              </a:rPr>
              <a:t>Fig 8.4- Serial Monitor Results of LoRa Communication Between Cart Node and Zone Node</a:t>
            </a:r>
          </a:p>
        </p:txBody>
      </p:sp>
      <p:pic>
        <p:nvPicPr>
          <p:cNvPr id="9" name="Picture 8">
            <a:extLst>
              <a:ext uri="{FF2B5EF4-FFF2-40B4-BE49-F238E27FC236}">
                <a16:creationId xmlns:a16="http://schemas.microsoft.com/office/drawing/2014/main" id="{C38E313B-0AC0-357C-D20C-F8D55B8495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484" y="1688638"/>
            <a:ext cx="4572001" cy="4169294"/>
          </a:xfrm>
          <a:prstGeom prst="rect">
            <a:avLst/>
          </a:prstGeom>
        </p:spPr>
      </p:pic>
      <p:pic>
        <p:nvPicPr>
          <p:cNvPr id="13" name="Picture 12">
            <a:extLst>
              <a:ext uri="{FF2B5EF4-FFF2-40B4-BE49-F238E27FC236}">
                <a16:creationId xmlns:a16="http://schemas.microsoft.com/office/drawing/2014/main" id="{36EFED31-A0CA-AA7E-E6E6-48F0241227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3872" y="1688638"/>
            <a:ext cx="4410075" cy="4305807"/>
          </a:xfrm>
          <a:prstGeom prst="rect">
            <a:avLst/>
          </a:prstGeom>
        </p:spPr>
      </p:pic>
    </p:spTree>
    <p:extLst>
      <p:ext uri="{BB962C8B-B14F-4D97-AF65-F5344CB8AC3E}">
        <p14:creationId xmlns:p14="http://schemas.microsoft.com/office/powerpoint/2010/main" val="3342868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BB374-5BEA-D5A1-82E4-DAB09A44153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290E62-AA5F-5232-742D-FDDD40C36ED9}"/>
              </a:ext>
            </a:extLst>
          </p:cNvPr>
          <p:cNvSpPr>
            <a:spLocks noGrp="1"/>
          </p:cNvSpPr>
          <p:nvPr>
            <p:ph type="sldNum" sz="quarter" idx="12"/>
          </p:nvPr>
        </p:nvSpPr>
        <p:spPr/>
        <p:txBody>
          <a:bodyPr/>
          <a:lstStyle/>
          <a:p>
            <a:fld id="{1E3669FF-A95B-4CED-B2F5-060587381DD8}" type="slidenum">
              <a:rPr lang="en-IN" smtClean="0"/>
              <a:t>28</a:t>
            </a:fld>
            <a:endParaRPr lang="en-IN"/>
          </a:p>
        </p:txBody>
      </p:sp>
      <p:sp>
        <p:nvSpPr>
          <p:cNvPr id="3" name="Title 1">
            <a:extLst>
              <a:ext uri="{FF2B5EF4-FFF2-40B4-BE49-F238E27FC236}">
                <a16:creationId xmlns:a16="http://schemas.microsoft.com/office/drawing/2014/main" id="{E3B0B40F-E5D5-8E7A-84F6-0B59FF7D00F3}"/>
              </a:ext>
            </a:extLst>
          </p:cNvPr>
          <p:cNvSpPr txBox="1">
            <a:spLocks/>
          </p:cNvSpPr>
          <p:nvPr/>
        </p:nvSpPr>
        <p:spPr>
          <a:xfrm>
            <a:off x="286138" y="491827"/>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Results</a:t>
            </a:r>
          </a:p>
        </p:txBody>
      </p:sp>
      <p:sp>
        <p:nvSpPr>
          <p:cNvPr id="5" name="Text Placeholder 2">
            <a:extLst>
              <a:ext uri="{FF2B5EF4-FFF2-40B4-BE49-F238E27FC236}">
                <a16:creationId xmlns:a16="http://schemas.microsoft.com/office/drawing/2014/main" id="{E732E9C7-E550-C0F1-A3FB-CA07D075FF6D}"/>
              </a:ext>
            </a:extLst>
          </p:cNvPr>
          <p:cNvSpPr txBox="1">
            <a:spLocks/>
          </p:cNvSpPr>
          <p:nvPr/>
        </p:nvSpPr>
        <p:spPr>
          <a:xfrm>
            <a:off x="286138" y="1041722"/>
            <a:ext cx="8756262" cy="54809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500"/>
              </a:spcBef>
              <a:buNone/>
            </a:pPr>
            <a:endParaRPr lang="en-US" sz="1600" dirty="0">
              <a:latin typeface="Times New Roman" panose="02020603050405020304" pitchFamily="18" charset="0"/>
              <a:cs typeface="Times New Roman" panose="02020603050405020304" pitchFamily="18" charset="0"/>
            </a:endParaRPr>
          </a:p>
          <a:p>
            <a:pPr marL="0" indent="0" algn="ctr">
              <a:lnSpc>
                <a:spcPct val="100000"/>
              </a:lnSpc>
              <a:spcBef>
                <a:spcPts val="500"/>
              </a:spcBef>
              <a:buNone/>
            </a:pPr>
            <a:r>
              <a:rPr lang="en-US" sz="1600" i="1" dirty="0">
                <a:latin typeface="Times New Roman" panose="02020603050405020304" pitchFamily="18" charset="0"/>
                <a:cs typeface="Times New Roman" panose="02020603050405020304" pitchFamily="18" charset="0"/>
              </a:rPr>
              <a:t>Table 1: Experimental Result</a:t>
            </a:r>
            <a:r>
              <a:rPr lang="en-US" sz="1600" dirty="0">
                <a:latin typeface="Times New Roman" panose="02020603050405020304" pitchFamily="18" charset="0"/>
                <a:cs typeface="Times New Roman" panose="02020603050405020304" pitchFamily="18" charset="0"/>
              </a:rPr>
              <a:t>.</a:t>
            </a:r>
          </a:p>
          <a:p>
            <a:pPr>
              <a:lnSpc>
                <a:spcPct val="100000"/>
              </a:lnSpc>
              <a:spcBef>
                <a:spcPts val="500"/>
              </a:spcBef>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nSpc>
                <a:spcPct val="100000"/>
              </a:lnSpc>
              <a:spcBef>
                <a:spcPts val="500"/>
              </a:spcBef>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2" name="AutoShape 2">
            <a:extLst>
              <a:ext uri="{FF2B5EF4-FFF2-40B4-BE49-F238E27FC236}">
                <a16:creationId xmlns:a16="http://schemas.microsoft.com/office/drawing/2014/main" id="{8013DD1C-3581-64F6-93C1-B57B520788E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a:extLst>
              <a:ext uri="{FF2B5EF4-FFF2-40B4-BE49-F238E27FC236}">
                <a16:creationId xmlns:a16="http://schemas.microsoft.com/office/drawing/2014/main" id="{3CFE6043-5670-B156-C3D4-7D8580619CE7}"/>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6" name="Table 5">
            <a:extLst>
              <a:ext uri="{FF2B5EF4-FFF2-40B4-BE49-F238E27FC236}">
                <a16:creationId xmlns:a16="http://schemas.microsoft.com/office/drawing/2014/main" id="{502510E4-5582-33AD-DABE-67762DC77F2A}"/>
              </a:ext>
            </a:extLst>
          </p:cNvPr>
          <p:cNvGraphicFramePr>
            <a:graphicFrameLocks noGrp="1"/>
          </p:cNvGraphicFramePr>
          <p:nvPr>
            <p:extLst>
              <p:ext uri="{D42A27DB-BD31-4B8C-83A1-F6EECF244321}">
                <p14:modId xmlns:p14="http://schemas.microsoft.com/office/powerpoint/2010/main" val="1075986426"/>
              </p:ext>
            </p:extLst>
          </p:nvPr>
        </p:nvGraphicFramePr>
        <p:xfrm>
          <a:off x="628649" y="1825624"/>
          <a:ext cx="7982917" cy="3996443"/>
        </p:xfrm>
        <a:graphic>
          <a:graphicData uri="http://schemas.openxmlformats.org/drawingml/2006/table">
            <a:tbl>
              <a:tblPr>
                <a:tableStyleId>{793D81CF-94F2-401A-BA57-92F5A7B2D0C5}</a:tableStyleId>
              </a:tblPr>
              <a:tblGrid>
                <a:gridCol w="1373964">
                  <a:extLst>
                    <a:ext uri="{9D8B030D-6E8A-4147-A177-3AD203B41FA5}">
                      <a16:colId xmlns:a16="http://schemas.microsoft.com/office/drawing/2014/main" val="3298828473"/>
                    </a:ext>
                  </a:extLst>
                </a:gridCol>
                <a:gridCol w="1287007">
                  <a:extLst>
                    <a:ext uri="{9D8B030D-6E8A-4147-A177-3AD203B41FA5}">
                      <a16:colId xmlns:a16="http://schemas.microsoft.com/office/drawing/2014/main" val="3646268304"/>
                    </a:ext>
                  </a:extLst>
                </a:gridCol>
                <a:gridCol w="1399135">
                  <a:extLst>
                    <a:ext uri="{9D8B030D-6E8A-4147-A177-3AD203B41FA5}">
                      <a16:colId xmlns:a16="http://schemas.microsoft.com/office/drawing/2014/main" val="132791481"/>
                    </a:ext>
                  </a:extLst>
                </a:gridCol>
                <a:gridCol w="1574892">
                  <a:extLst>
                    <a:ext uri="{9D8B030D-6E8A-4147-A177-3AD203B41FA5}">
                      <a16:colId xmlns:a16="http://schemas.microsoft.com/office/drawing/2014/main" val="3713348263"/>
                    </a:ext>
                  </a:extLst>
                </a:gridCol>
                <a:gridCol w="1287007">
                  <a:extLst>
                    <a:ext uri="{9D8B030D-6E8A-4147-A177-3AD203B41FA5}">
                      <a16:colId xmlns:a16="http://schemas.microsoft.com/office/drawing/2014/main" val="1559990598"/>
                    </a:ext>
                  </a:extLst>
                </a:gridCol>
                <a:gridCol w="1060912">
                  <a:extLst>
                    <a:ext uri="{9D8B030D-6E8A-4147-A177-3AD203B41FA5}">
                      <a16:colId xmlns:a16="http://schemas.microsoft.com/office/drawing/2014/main" val="4105254207"/>
                    </a:ext>
                  </a:extLst>
                </a:gridCol>
              </a:tblGrid>
              <a:tr h="1119403">
                <a:tc>
                  <a:txBody>
                    <a:bodyPr/>
                    <a:lstStyle/>
                    <a:p>
                      <a:pPr algn="ctr">
                        <a:buNone/>
                      </a:pPr>
                      <a:r>
                        <a:rPr lang="en-IN" dirty="0"/>
                        <a:t>Test Case</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Distance Covered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UWB Position Error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LoRa Packet Success (%)</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Path Deviation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Total Time (</a:t>
                      </a:r>
                      <a:r>
                        <a:rPr lang="en-IN" dirty="0" err="1"/>
                        <a:t>ms</a:t>
                      </a:r>
                      <a:r>
                        <a:rPr lang="en-IN" dirty="0"/>
                        <a:t>)</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0192274"/>
                  </a:ext>
                </a:extLst>
              </a:tr>
              <a:tr h="575408">
                <a:tc>
                  <a:txBody>
                    <a:bodyPr/>
                    <a:lstStyle/>
                    <a:p>
                      <a:pPr algn="ctr">
                        <a:buNone/>
                      </a:pPr>
                      <a:r>
                        <a:rPr lang="en-IN" dirty="0"/>
                        <a:t>Test 1</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120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0.18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98%</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0.25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310 </a:t>
                      </a:r>
                      <a:r>
                        <a:rPr lang="en-IN" dirty="0" err="1"/>
                        <a:t>ms</a:t>
                      </a:r>
                      <a:endParaRPr lang="en-IN" dirty="0"/>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631492"/>
                  </a:ext>
                </a:extLst>
              </a:tr>
              <a:tr h="575408">
                <a:tc>
                  <a:txBody>
                    <a:bodyPr/>
                    <a:lstStyle/>
                    <a:p>
                      <a:pPr algn="ctr">
                        <a:buNone/>
                      </a:pPr>
                      <a:r>
                        <a:rPr lang="en-IN" dirty="0"/>
                        <a:t>Test 2</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210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a:t>0.32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95%</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0.48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420 </a:t>
                      </a:r>
                      <a:r>
                        <a:rPr lang="en-IN" dirty="0" err="1"/>
                        <a:t>ms</a:t>
                      </a:r>
                      <a:endParaRPr lang="en-IN" dirty="0"/>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3977750"/>
                  </a:ext>
                </a:extLst>
              </a:tr>
              <a:tr h="575408">
                <a:tc>
                  <a:txBody>
                    <a:bodyPr/>
                    <a:lstStyle/>
                    <a:p>
                      <a:pPr algn="ctr">
                        <a:buNone/>
                      </a:pPr>
                      <a:r>
                        <a:rPr lang="en-IN" dirty="0"/>
                        <a:t>Test 3</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a:t>340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0.58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91%</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0.85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610 </a:t>
                      </a:r>
                      <a:r>
                        <a:rPr lang="en-IN" dirty="0" err="1"/>
                        <a:t>ms</a:t>
                      </a:r>
                      <a:endParaRPr lang="en-IN" dirty="0"/>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1524952"/>
                  </a:ext>
                </a:extLst>
              </a:tr>
              <a:tr h="575408">
                <a:tc>
                  <a:txBody>
                    <a:bodyPr/>
                    <a:lstStyle/>
                    <a:p>
                      <a:pPr algn="ctr">
                        <a:buNone/>
                      </a:pPr>
                      <a:r>
                        <a:rPr lang="en-IN" dirty="0"/>
                        <a:t>Test 4</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480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0.42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93%</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0.62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780 </a:t>
                      </a:r>
                      <a:r>
                        <a:rPr lang="en-IN" dirty="0" err="1"/>
                        <a:t>ms</a:t>
                      </a:r>
                      <a:endParaRPr lang="en-IN" dirty="0"/>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343335"/>
                  </a:ext>
                </a:extLst>
              </a:tr>
              <a:tr h="575408">
                <a:tc>
                  <a:txBody>
                    <a:bodyPr/>
                    <a:lstStyle/>
                    <a:p>
                      <a:pPr algn="ctr">
                        <a:buNone/>
                      </a:pPr>
                      <a:r>
                        <a:rPr lang="en-IN" dirty="0"/>
                        <a:t>Test 5</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500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0.75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88%</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1.20 m</a:t>
                      </a:r>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buNone/>
                      </a:pPr>
                      <a:r>
                        <a:rPr lang="en-IN" dirty="0"/>
                        <a:t>920 </a:t>
                      </a:r>
                      <a:r>
                        <a:rPr lang="en-IN" dirty="0" err="1"/>
                        <a:t>ms</a:t>
                      </a:r>
                      <a:endParaRPr lang="en-IN" dirty="0"/>
                    </a:p>
                  </a:txBody>
                  <a:tcPr marL="63360" marR="63360" marT="31680" marB="3168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4472262"/>
                  </a:ext>
                </a:extLst>
              </a:tr>
            </a:tbl>
          </a:graphicData>
        </a:graphic>
      </p:graphicFrame>
    </p:spTree>
    <p:extLst>
      <p:ext uri="{BB962C8B-B14F-4D97-AF65-F5344CB8AC3E}">
        <p14:creationId xmlns:p14="http://schemas.microsoft.com/office/powerpoint/2010/main" val="13613203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3CDA9-1B9B-63D7-84DD-6595472750C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FE4FD96-8EE6-491D-2E80-64890F74C03F}"/>
              </a:ext>
            </a:extLst>
          </p:cNvPr>
          <p:cNvSpPr>
            <a:spLocks noGrp="1"/>
          </p:cNvSpPr>
          <p:nvPr>
            <p:ph type="sldNum" sz="quarter" idx="12"/>
          </p:nvPr>
        </p:nvSpPr>
        <p:spPr/>
        <p:txBody>
          <a:bodyPr/>
          <a:lstStyle/>
          <a:p>
            <a:fld id="{1E3669FF-A95B-4CED-B2F5-060587381DD8}" type="slidenum">
              <a:rPr lang="en-IN" smtClean="0"/>
              <a:t>29</a:t>
            </a:fld>
            <a:endParaRPr lang="en-IN"/>
          </a:p>
        </p:txBody>
      </p:sp>
      <p:sp>
        <p:nvSpPr>
          <p:cNvPr id="3" name="Title 1">
            <a:extLst>
              <a:ext uri="{FF2B5EF4-FFF2-40B4-BE49-F238E27FC236}">
                <a16:creationId xmlns:a16="http://schemas.microsoft.com/office/drawing/2014/main" id="{4632FA24-CDEC-C43B-078C-059A6375C2B2}"/>
              </a:ext>
            </a:extLst>
          </p:cNvPr>
          <p:cNvSpPr txBox="1">
            <a:spLocks/>
          </p:cNvSpPr>
          <p:nvPr/>
        </p:nvSpPr>
        <p:spPr>
          <a:xfrm>
            <a:off x="304800" y="304800"/>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9. Project Plan</a:t>
            </a:r>
          </a:p>
        </p:txBody>
      </p:sp>
      <p:sp>
        <p:nvSpPr>
          <p:cNvPr id="5" name="Text Placeholder 2">
            <a:extLst>
              <a:ext uri="{FF2B5EF4-FFF2-40B4-BE49-F238E27FC236}">
                <a16:creationId xmlns:a16="http://schemas.microsoft.com/office/drawing/2014/main" id="{26ACB54A-6547-5307-8333-C44BB6E795D5}"/>
              </a:ext>
            </a:extLst>
          </p:cNvPr>
          <p:cNvSpPr txBox="1">
            <a:spLocks/>
          </p:cNvSpPr>
          <p:nvPr/>
        </p:nvSpPr>
        <p:spPr>
          <a:xfrm>
            <a:off x="286138" y="793101"/>
            <a:ext cx="8756262" cy="57296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500"/>
              </a:spcBef>
              <a:buNone/>
            </a:pPr>
            <a:r>
              <a:rPr lang="en-IN" sz="1600" b="1" dirty="0">
                <a:latin typeface="Times New Roman" panose="02020603050405020304" pitchFamily="18" charset="0"/>
                <a:cs typeface="Times New Roman" panose="02020603050405020304" pitchFamily="18" charset="0"/>
              </a:rPr>
              <a:t>Phase 1: Requirements &amp; Design (Week 1-2)</a:t>
            </a:r>
          </a:p>
          <a:p>
            <a:pPr marL="0" indent="0">
              <a:lnSpc>
                <a:spcPct val="100000"/>
              </a:lnSpc>
              <a:spcBef>
                <a:spcPts val="500"/>
              </a:spcBef>
              <a:buNone/>
            </a:pPr>
            <a:r>
              <a:rPr lang="en-US" sz="1600" dirty="0">
                <a:latin typeface="Times New Roman" panose="02020603050405020304" pitchFamily="18" charset="0"/>
                <a:cs typeface="Times New Roman" panose="02020603050405020304" pitchFamily="18" charset="0"/>
              </a:rPr>
              <a:t>Define problem statement, system objective (LoRa + UWB hybrid), block diagram, and architecture.</a:t>
            </a:r>
            <a:endParaRPr lang="en-IN" sz="1600" dirty="0">
              <a:latin typeface="Times New Roman" panose="02020603050405020304" pitchFamily="18" charset="0"/>
              <a:cs typeface="Times New Roman" panose="02020603050405020304" pitchFamily="18" charset="0"/>
            </a:endParaRPr>
          </a:p>
          <a:p>
            <a:pPr marL="0" indent="0">
              <a:lnSpc>
                <a:spcPct val="100000"/>
              </a:lnSpc>
              <a:spcBef>
                <a:spcPts val="500"/>
              </a:spcBef>
              <a:buNone/>
            </a:pPr>
            <a:r>
              <a:rPr lang="en-IN" sz="1600" b="1" dirty="0">
                <a:latin typeface="Times New Roman" panose="02020603050405020304" pitchFamily="18" charset="0"/>
                <a:cs typeface="Times New Roman" panose="02020603050405020304" pitchFamily="18" charset="0"/>
              </a:rPr>
              <a:t>Phase 2: Indoor Environment </a:t>
            </a:r>
            <a:r>
              <a:rPr lang="en-IN" sz="1600" b="1" dirty="0" err="1">
                <a:latin typeface="Times New Roman" panose="02020603050405020304" pitchFamily="18" charset="0"/>
                <a:cs typeface="Times New Roman" panose="02020603050405020304" pitchFamily="18" charset="0"/>
              </a:rPr>
              <a:t>Modeling</a:t>
            </a:r>
            <a:r>
              <a:rPr lang="en-IN" sz="1600" b="1" dirty="0">
                <a:latin typeface="Times New Roman" panose="02020603050405020304" pitchFamily="18" charset="0"/>
                <a:cs typeface="Times New Roman" panose="02020603050405020304" pitchFamily="18" charset="0"/>
              </a:rPr>
              <a:t> (Week 3–4)</a:t>
            </a:r>
          </a:p>
          <a:p>
            <a:pPr marL="0" indent="0">
              <a:lnSpc>
                <a:spcPct val="100000"/>
              </a:lnSpc>
              <a:spcBef>
                <a:spcPts val="500"/>
              </a:spcBef>
              <a:buNone/>
            </a:pPr>
            <a:r>
              <a:rPr lang="en-US" sz="1600" dirty="0">
                <a:latin typeface="Times New Roman" panose="02020603050405020304" pitchFamily="18" charset="0"/>
                <a:cs typeface="Times New Roman" panose="02020603050405020304" pitchFamily="18" charset="0"/>
              </a:rPr>
              <a:t>Create MATLAB-based 2D indoor mall layout with zones, aisles, racks, and cart visualization.</a:t>
            </a:r>
            <a:r>
              <a:rPr lang="en-IN" sz="1600" dirty="0">
                <a:latin typeface="Times New Roman" panose="02020603050405020304" pitchFamily="18" charset="0"/>
                <a:cs typeface="Times New Roman" panose="02020603050405020304" pitchFamily="18" charset="0"/>
              </a:rPr>
              <a:t>.</a:t>
            </a:r>
          </a:p>
          <a:p>
            <a:pPr marL="0" indent="0">
              <a:lnSpc>
                <a:spcPct val="100000"/>
              </a:lnSpc>
              <a:spcBef>
                <a:spcPts val="500"/>
              </a:spcBef>
              <a:buNone/>
            </a:pPr>
            <a:r>
              <a:rPr lang="en-IN" sz="1600" b="1" dirty="0">
                <a:latin typeface="Times New Roman" panose="02020603050405020304" pitchFamily="18" charset="0"/>
                <a:cs typeface="Times New Roman" panose="02020603050405020304" pitchFamily="18" charset="0"/>
              </a:rPr>
              <a:t>Phase 3: LoRa Distance Simulation (Week 5)</a:t>
            </a:r>
          </a:p>
          <a:p>
            <a:pPr marL="0" indent="0">
              <a:lnSpc>
                <a:spcPct val="100000"/>
              </a:lnSpc>
              <a:spcBef>
                <a:spcPts val="500"/>
              </a:spcBef>
              <a:buNone/>
            </a:pPr>
            <a:r>
              <a:rPr lang="en-US" sz="1600" dirty="0">
                <a:latin typeface="Times New Roman" panose="02020603050405020304" pitchFamily="18" charset="0"/>
                <a:cs typeface="Times New Roman" panose="02020603050405020304" pitchFamily="18" charset="0"/>
              </a:rPr>
              <a:t>Simulate RSSI-based LoRa zone-level distance estimation with indoor noise modeling.</a:t>
            </a:r>
            <a:r>
              <a:rPr lang="en-IN" sz="1600" dirty="0">
                <a:latin typeface="Times New Roman" panose="02020603050405020304" pitchFamily="18" charset="0"/>
                <a:cs typeface="Times New Roman" panose="02020603050405020304" pitchFamily="18" charset="0"/>
              </a:rPr>
              <a:t>.</a:t>
            </a:r>
          </a:p>
          <a:p>
            <a:pPr marL="0" indent="0">
              <a:lnSpc>
                <a:spcPct val="100000"/>
              </a:lnSpc>
              <a:spcBef>
                <a:spcPts val="500"/>
              </a:spcBef>
              <a:buNone/>
            </a:pPr>
            <a:r>
              <a:rPr lang="en-IN" sz="1600" b="1" dirty="0">
                <a:latin typeface="Times New Roman" panose="02020603050405020304" pitchFamily="18" charset="0"/>
                <a:cs typeface="Times New Roman" panose="02020603050405020304" pitchFamily="18" charset="0"/>
              </a:rPr>
              <a:t>Phase 4: Noise Analysis &amp; Filtering (Week 6–7)</a:t>
            </a:r>
          </a:p>
          <a:p>
            <a:pPr marL="0" indent="0">
              <a:lnSpc>
                <a:spcPct val="100000"/>
              </a:lnSpc>
              <a:spcBef>
                <a:spcPts val="500"/>
              </a:spcBef>
              <a:buNone/>
            </a:pPr>
            <a:r>
              <a:rPr lang="en-US" sz="1600" dirty="0">
                <a:latin typeface="Times New Roman" panose="02020603050405020304" pitchFamily="18" charset="0"/>
                <a:cs typeface="Times New Roman" panose="02020603050405020304" pitchFamily="18" charset="0"/>
              </a:rPr>
              <a:t>Analyze noise impact on LoRa distance and implement 1D Kalman Filter for smoothing.</a:t>
            </a:r>
            <a:r>
              <a:rPr lang="en-IN" sz="1600" dirty="0">
                <a:latin typeface="Times New Roman" panose="02020603050405020304" pitchFamily="18" charset="0"/>
                <a:cs typeface="Times New Roman" panose="02020603050405020304" pitchFamily="18" charset="0"/>
              </a:rPr>
              <a:t>.</a:t>
            </a:r>
          </a:p>
          <a:p>
            <a:pPr marL="0" indent="0">
              <a:lnSpc>
                <a:spcPct val="100000"/>
              </a:lnSpc>
              <a:spcBef>
                <a:spcPts val="500"/>
              </a:spcBef>
              <a:buNone/>
            </a:pPr>
            <a:r>
              <a:rPr lang="en-IN" sz="1600" b="1" dirty="0">
                <a:latin typeface="Times New Roman" panose="02020603050405020304" pitchFamily="18" charset="0"/>
                <a:cs typeface="Times New Roman" panose="02020603050405020304" pitchFamily="18" charset="0"/>
              </a:rPr>
              <a:t>Phase 5: </a:t>
            </a:r>
            <a:r>
              <a:rPr lang="en-IN" sz="1600" b="1" dirty="0">
                <a:latin typeface="Times New Roman" panose="02020603050405020304" pitchFamily="18" charset="0"/>
                <a:ea typeface="Tahoma" panose="020B0604030504040204" pitchFamily="34" charset="0"/>
                <a:cs typeface="Times New Roman" panose="02020603050405020304" pitchFamily="18" charset="0"/>
              </a:rPr>
              <a:t>UWB Localization Simulation </a:t>
            </a:r>
            <a:r>
              <a:rPr lang="en-IN" sz="1600" b="1" dirty="0">
                <a:latin typeface="Times New Roman" panose="02020603050405020304" pitchFamily="18" charset="0"/>
                <a:cs typeface="Times New Roman" panose="02020603050405020304" pitchFamily="18" charset="0"/>
              </a:rPr>
              <a:t>(Week 6–7)</a:t>
            </a:r>
          </a:p>
          <a:p>
            <a:pPr marL="0" indent="0">
              <a:lnSpc>
                <a:spcPct val="100000"/>
              </a:lnSpc>
              <a:spcBef>
                <a:spcPts val="500"/>
              </a:spcBef>
              <a:buNone/>
            </a:pPr>
            <a:r>
              <a:rPr lang="en-US" sz="1600" dirty="0">
                <a:latin typeface="Times New Roman" panose="02020603050405020304" pitchFamily="18" charset="0"/>
                <a:cs typeface="Times New Roman" panose="02020603050405020304" pitchFamily="18" charset="0"/>
              </a:rPr>
              <a:t>Simulate high-accuracy UWB rack-level ranging activated near target zones.</a:t>
            </a:r>
            <a:r>
              <a:rPr lang="en-IN" sz="1600" dirty="0">
                <a:latin typeface="Times New Roman" panose="02020603050405020304" pitchFamily="18" charset="0"/>
                <a:cs typeface="Times New Roman" panose="02020603050405020304" pitchFamily="18" charset="0"/>
              </a:rPr>
              <a:t>.</a:t>
            </a:r>
          </a:p>
          <a:p>
            <a:pPr marL="0" indent="0">
              <a:lnSpc>
                <a:spcPct val="100000"/>
              </a:lnSpc>
              <a:spcBef>
                <a:spcPts val="500"/>
              </a:spcBef>
              <a:buNone/>
            </a:pPr>
            <a:r>
              <a:rPr lang="en-IN" sz="1600" b="1" dirty="0">
                <a:latin typeface="Times New Roman" panose="02020603050405020304" pitchFamily="18" charset="0"/>
                <a:cs typeface="Times New Roman" panose="02020603050405020304" pitchFamily="18" charset="0"/>
              </a:rPr>
              <a:t>Phase 6: Product Search Logic(Week 8)</a:t>
            </a:r>
          </a:p>
          <a:p>
            <a:pPr marL="0" indent="0">
              <a:lnSpc>
                <a:spcPct val="100000"/>
              </a:lnSpc>
              <a:spcBef>
                <a:spcPts val="500"/>
              </a:spcBef>
              <a:buNone/>
            </a:pPr>
            <a:r>
              <a:rPr lang="en-US" sz="1600" dirty="0">
                <a:latin typeface="Times New Roman" panose="02020603050405020304" pitchFamily="18" charset="0"/>
                <a:cs typeface="Times New Roman" panose="02020603050405020304" pitchFamily="18" charset="0"/>
              </a:rPr>
              <a:t>Implement product selection mechanism using locally stored zone and rack data.</a:t>
            </a:r>
            <a:r>
              <a:rPr lang="en-IN" sz="1600" dirty="0">
                <a:latin typeface="Times New Roman" panose="02020603050405020304" pitchFamily="18" charset="0"/>
                <a:cs typeface="Times New Roman" panose="02020603050405020304" pitchFamily="18" charset="0"/>
              </a:rPr>
              <a:t>.</a:t>
            </a:r>
          </a:p>
          <a:p>
            <a:pPr marL="0" indent="0">
              <a:lnSpc>
                <a:spcPct val="100000"/>
              </a:lnSpc>
              <a:spcBef>
                <a:spcPts val="500"/>
              </a:spcBef>
              <a:buNone/>
            </a:pPr>
            <a:r>
              <a:rPr lang="en-IN" sz="1600" b="1" dirty="0">
                <a:latin typeface="Times New Roman" panose="02020603050405020304" pitchFamily="18" charset="0"/>
                <a:cs typeface="Times New Roman" panose="02020603050405020304" pitchFamily="18" charset="0"/>
              </a:rPr>
              <a:t>Phase 7: Shortest Path Navigation (Week 9)</a:t>
            </a:r>
          </a:p>
          <a:p>
            <a:pPr marL="0" indent="0">
              <a:lnSpc>
                <a:spcPct val="100000"/>
              </a:lnSpc>
              <a:spcBef>
                <a:spcPts val="500"/>
              </a:spcBef>
              <a:buNone/>
            </a:pPr>
            <a:r>
              <a:rPr lang="en-US" sz="1600" dirty="0">
                <a:latin typeface="Times New Roman" panose="02020603050405020304" pitchFamily="18" charset="0"/>
                <a:cs typeface="Times New Roman" panose="02020603050405020304" pitchFamily="18" charset="0"/>
              </a:rPr>
              <a:t>Develop aisle-based shortest path algorithm for optimized indoor navigation. </a:t>
            </a:r>
          </a:p>
          <a:p>
            <a:pPr marL="0" indent="0">
              <a:lnSpc>
                <a:spcPct val="100000"/>
              </a:lnSpc>
              <a:spcBef>
                <a:spcPts val="500"/>
              </a:spcBef>
              <a:buNone/>
            </a:pPr>
            <a:r>
              <a:rPr lang="en-IN" sz="1600" b="1" dirty="0">
                <a:latin typeface="Times New Roman" panose="02020603050405020304" pitchFamily="18" charset="0"/>
                <a:cs typeface="Times New Roman" panose="02020603050405020304" pitchFamily="18" charset="0"/>
              </a:rPr>
              <a:t>Phase 8</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Result Visualization(Week 10)</a:t>
            </a:r>
          </a:p>
          <a:p>
            <a:pPr marL="0" indent="0">
              <a:lnSpc>
                <a:spcPct val="100000"/>
              </a:lnSpc>
              <a:spcBef>
                <a:spcPts val="500"/>
              </a:spcBef>
              <a:buNone/>
            </a:pPr>
            <a:r>
              <a:rPr lang="en-US" sz="1600" dirty="0">
                <a:latin typeface="Times New Roman" panose="02020603050405020304" pitchFamily="18" charset="0"/>
                <a:cs typeface="Times New Roman" panose="02020603050405020304" pitchFamily="18" charset="0"/>
              </a:rPr>
              <a:t> Visualize distance plots, filtered results, zone detection, and navigation paths.</a:t>
            </a:r>
          </a:p>
          <a:p>
            <a:pPr marL="0" indent="0">
              <a:lnSpc>
                <a:spcPct val="100000"/>
              </a:lnSpc>
              <a:spcBef>
                <a:spcPts val="500"/>
              </a:spcBef>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693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ECD3C-733F-A619-1CDD-51B94EB2B39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D531EC-D9A6-AB76-66D1-11810F657A9F}"/>
              </a:ext>
            </a:extLst>
          </p:cNvPr>
          <p:cNvSpPr>
            <a:spLocks noGrp="1"/>
          </p:cNvSpPr>
          <p:nvPr>
            <p:ph type="sldNum" sz="quarter" idx="12"/>
          </p:nvPr>
        </p:nvSpPr>
        <p:spPr/>
        <p:txBody>
          <a:bodyPr/>
          <a:lstStyle/>
          <a:p>
            <a:fld id="{1E3669FF-A95B-4CED-B2F5-060587381DD8}" type="slidenum">
              <a:rPr lang="en-IN" smtClean="0"/>
              <a:t>30</a:t>
            </a:fld>
            <a:endParaRPr lang="en-IN"/>
          </a:p>
        </p:txBody>
      </p:sp>
      <p:sp>
        <p:nvSpPr>
          <p:cNvPr id="3" name="Title 1">
            <a:extLst>
              <a:ext uri="{FF2B5EF4-FFF2-40B4-BE49-F238E27FC236}">
                <a16:creationId xmlns:a16="http://schemas.microsoft.com/office/drawing/2014/main" id="{ED166A9A-D06D-A0FD-7A43-DF84CBBC2647}"/>
              </a:ext>
            </a:extLst>
          </p:cNvPr>
          <p:cNvSpPr txBox="1">
            <a:spLocks/>
          </p:cNvSpPr>
          <p:nvPr/>
        </p:nvSpPr>
        <p:spPr>
          <a:xfrm>
            <a:off x="304800" y="304800"/>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10. Conclusion</a:t>
            </a:r>
          </a:p>
        </p:txBody>
      </p:sp>
      <p:sp>
        <p:nvSpPr>
          <p:cNvPr id="5" name="Text Placeholder 2">
            <a:extLst>
              <a:ext uri="{FF2B5EF4-FFF2-40B4-BE49-F238E27FC236}">
                <a16:creationId xmlns:a16="http://schemas.microsoft.com/office/drawing/2014/main" id="{15B0934F-C225-FB9A-E8F9-D02E926D623D}"/>
              </a:ext>
            </a:extLst>
          </p:cNvPr>
          <p:cNvSpPr txBox="1">
            <a:spLocks/>
          </p:cNvSpPr>
          <p:nvPr/>
        </p:nvSpPr>
        <p:spPr>
          <a:xfrm>
            <a:off x="304800" y="1110343"/>
            <a:ext cx="8448675" cy="49761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US" sz="1600" dirty="0">
                <a:latin typeface="Times New Roman" panose="02020603050405020304" pitchFamily="18" charset="0"/>
                <a:cs typeface="Times New Roman" panose="02020603050405020304" pitchFamily="18" charset="0"/>
              </a:rPr>
              <a:t>Successfully demonstrates a realistic indoor navigation and localization system using LoRa and UWB technologies, modeled through a MATLAB-based hardware simulation. LoRa enables zone-level distance estimation with low power consumption, while UWB provides high-accuracy rack-level ranging, making the system suitable for complex indoor environments such as shopping malls.</a:t>
            </a:r>
          </a:p>
          <a:p>
            <a:pPr marL="0" indent="0" algn="just">
              <a:lnSpc>
                <a:spcPct val="100000"/>
              </a:lnSpc>
              <a:buNone/>
            </a:pPr>
            <a:r>
              <a:rPr lang="en-US" sz="1600" dirty="0">
                <a:latin typeface="Times New Roman" panose="02020603050405020304" pitchFamily="18" charset="0"/>
                <a:cs typeface="Times New Roman" panose="02020603050405020304" pitchFamily="18" charset="0"/>
              </a:rPr>
              <a:t>The introduction of noise modeling and 1D Kalman filtering effectively improves distance stability, closely reflecting real-world wireless behavior. By implementing local data storage and on-device processing, the system eliminates dependency on centralized servers, enhancing reliability and scalability. The shortest-path routing along predefined aisles ensures practical navigation without crossing racks, mimicking real customer movement.</a:t>
            </a:r>
          </a:p>
          <a:p>
            <a:pPr marL="0" indent="0" algn="just">
              <a:lnSpc>
                <a:spcPct val="100000"/>
              </a:lnSpc>
              <a:buNone/>
            </a:pPr>
            <a:r>
              <a:rPr lang="en-US" sz="1600" dirty="0">
                <a:latin typeface="Times New Roman" panose="02020603050405020304" pitchFamily="18" charset="0"/>
                <a:cs typeface="Times New Roman" panose="02020603050405020304" pitchFamily="18" charset="0"/>
              </a:rPr>
              <a:t>Overall, the project validates the feasibility of a smart cart–based indoor navigation system and establishes a strong foundation for future hardware implementation and real-time deployment.</a:t>
            </a:r>
          </a:p>
          <a:p>
            <a:pPr algn="just">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3685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21FBF-85D8-246D-9EEC-6B838E56BC3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918198-0520-450C-D823-AB7BFD569A3D}"/>
              </a:ext>
            </a:extLst>
          </p:cNvPr>
          <p:cNvSpPr>
            <a:spLocks noGrp="1"/>
          </p:cNvSpPr>
          <p:nvPr>
            <p:ph type="sldNum" sz="quarter" idx="12"/>
          </p:nvPr>
        </p:nvSpPr>
        <p:spPr/>
        <p:txBody>
          <a:bodyPr/>
          <a:lstStyle/>
          <a:p>
            <a:fld id="{1E3669FF-A95B-4CED-B2F5-060587381DD8}" type="slidenum">
              <a:rPr lang="en-IN" smtClean="0"/>
              <a:t>31</a:t>
            </a:fld>
            <a:endParaRPr lang="en-IN"/>
          </a:p>
        </p:txBody>
      </p:sp>
      <p:sp>
        <p:nvSpPr>
          <p:cNvPr id="3" name="Title 1">
            <a:extLst>
              <a:ext uri="{FF2B5EF4-FFF2-40B4-BE49-F238E27FC236}">
                <a16:creationId xmlns:a16="http://schemas.microsoft.com/office/drawing/2014/main" id="{613F79A8-B6AC-00D8-4C32-DE4E748AE2AC}"/>
              </a:ext>
            </a:extLst>
          </p:cNvPr>
          <p:cNvSpPr txBox="1">
            <a:spLocks/>
          </p:cNvSpPr>
          <p:nvPr/>
        </p:nvSpPr>
        <p:spPr>
          <a:xfrm>
            <a:off x="304800" y="304800"/>
            <a:ext cx="6400800" cy="6286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70C0"/>
                </a:solidFill>
              </a:rPr>
              <a:t>11. References</a:t>
            </a:r>
          </a:p>
        </p:txBody>
      </p:sp>
      <p:sp>
        <p:nvSpPr>
          <p:cNvPr id="5" name="Text Placeholder 2">
            <a:extLst>
              <a:ext uri="{FF2B5EF4-FFF2-40B4-BE49-F238E27FC236}">
                <a16:creationId xmlns:a16="http://schemas.microsoft.com/office/drawing/2014/main" id="{E0868298-A9A4-0675-074B-D0E7D65FE9AE}"/>
              </a:ext>
            </a:extLst>
          </p:cNvPr>
          <p:cNvSpPr txBox="1">
            <a:spLocks/>
          </p:cNvSpPr>
          <p:nvPr/>
        </p:nvSpPr>
        <p:spPr>
          <a:xfrm flipV="1">
            <a:off x="482082" y="2119370"/>
            <a:ext cx="8008999" cy="457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dirty="0"/>
          </a:p>
          <a:p>
            <a:pPr marL="0" indent="0">
              <a:buNone/>
            </a:pPr>
            <a:endParaRPr lang="en-IN" sz="2000" dirty="0"/>
          </a:p>
          <a:p>
            <a:pPr marL="285750" indent="-285750"/>
            <a:endParaRPr lang="en-US" sz="20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0B07DD11-B4D4-279B-E114-41A726CEC3CA}"/>
              </a:ext>
            </a:extLst>
          </p:cNvPr>
          <p:cNvSpPr>
            <a:spLocks noChangeArrowheads="1"/>
          </p:cNvSpPr>
          <p:nvPr/>
        </p:nvSpPr>
        <p:spPr bwMode="auto">
          <a:xfrm>
            <a:off x="177282" y="914627"/>
            <a:ext cx="8668139"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W. Ma, “Research on Indoor Positioning System Algorithm Based on TOA and Kalman Filter,” </a:t>
            </a:r>
            <a:r>
              <a:rPr lang="en-US" i="1" dirty="0">
                <a:latin typeface="Times New Roman" panose="02020603050405020304" pitchFamily="18" charset="0"/>
                <a:cs typeface="Times New Roman" panose="02020603050405020304" pitchFamily="18" charset="0"/>
              </a:rPr>
              <a:t>Measurement: Sensors</a:t>
            </a:r>
            <a:r>
              <a:rPr lang="en-US" dirty="0">
                <a:latin typeface="Times New Roman" panose="02020603050405020304" pitchFamily="18" charset="0"/>
                <a:cs typeface="Times New Roman" panose="02020603050405020304" pitchFamily="18" charset="0"/>
              </a:rPr>
              <a:t>, vol. 28, 2024.</a:t>
            </a:r>
          </a:p>
          <a:p>
            <a:r>
              <a:rPr lang="en-IN" dirty="0">
                <a:latin typeface="Times New Roman" panose="02020603050405020304" pitchFamily="18" charset="0"/>
                <a:cs typeface="Times New Roman" panose="02020603050405020304" pitchFamily="18" charset="0"/>
              </a:rPr>
              <a:t>[2] F. Zafari, A. </a:t>
            </a:r>
            <a:r>
              <a:rPr lang="en-IN" dirty="0" err="1">
                <a:latin typeface="Times New Roman" panose="02020603050405020304" pitchFamily="18" charset="0"/>
                <a:cs typeface="Times New Roman" panose="02020603050405020304" pitchFamily="18" charset="0"/>
              </a:rPr>
              <a:t>Gkelias</a:t>
            </a:r>
            <a:r>
              <a:rPr lang="en-IN" dirty="0">
                <a:latin typeface="Times New Roman" panose="02020603050405020304" pitchFamily="18" charset="0"/>
                <a:cs typeface="Times New Roman" panose="02020603050405020304" pitchFamily="18" charset="0"/>
              </a:rPr>
              <a:t>, and K. K. Leung, “A Survey of Indoor Localization Systems and Technologies,” </a:t>
            </a:r>
            <a:r>
              <a:rPr lang="en-IN" i="1" dirty="0">
                <a:latin typeface="Times New Roman" panose="02020603050405020304" pitchFamily="18" charset="0"/>
                <a:cs typeface="Times New Roman" panose="02020603050405020304" pitchFamily="18" charset="0"/>
              </a:rPr>
              <a:t>IEEE Communications Surveys &amp; Tutorials</a:t>
            </a:r>
            <a:r>
              <a:rPr lang="en-IN" dirty="0">
                <a:latin typeface="Times New Roman" panose="02020603050405020304" pitchFamily="18" charset="0"/>
                <a:cs typeface="Times New Roman" panose="02020603050405020304" pitchFamily="18" charset="0"/>
              </a:rPr>
              <a:t>, vol. 23, no. 2, pp. 1082–1120, 2021.</a:t>
            </a:r>
          </a:p>
          <a:p>
            <a:r>
              <a:rPr lang="en-IN" dirty="0">
                <a:latin typeface="Times New Roman" panose="02020603050405020304" pitchFamily="18" charset="0"/>
                <a:cs typeface="Times New Roman" panose="02020603050405020304" pitchFamily="18" charset="0"/>
              </a:rPr>
              <a:t>[3] H. Al-</a:t>
            </a:r>
            <a:r>
              <a:rPr lang="en-IN" dirty="0" err="1">
                <a:latin typeface="Times New Roman" panose="02020603050405020304" pitchFamily="18" charset="0"/>
                <a:cs typeface="Times New Roman" panose="02020603050405020304" pitchFamily="18" charset="0"/>
              </a:rPr>
              <a:t>Tarawneh</a:t>
            </a:r>
            <a:r>
              <a:rPr lang="en-IN" dirty="0">
                <a:latin typeface="Times New Roman" panose="02020603050405020304" pitchFamily="18" charset="0"/>
                <a:cs typeface="Times New Roman" panose="02020603050405020304" pitchFamily="18" charset="0"/>
              </a:rPr>
              <a:t>, M. </a:t>
            </a:r>
            <a:r>
              <a:rPr lang="en-IN" dirty="0" err="1">
                <a:latin typeface="Times New Roman" panose="02020603050405020304" pitchFamily="18" charset="0"/>
                <a:cs typeface="Times New Roman" panose="02020603050405020304" pitchFamily="18" charset="0"/>
              </a:rPr>
              <a:t>Saraireh</a:t>
            </a:r>
            <a:r>
              <a:rPr lang="en-IN" dirty="0">
                <a:latin typeface="Times New Roman" panose="02020603050405020304" pitchFamily="18" charset="0"/>
                <a:cs typeface="Times New Roman" panose="02020603050405020304" pitchFamily="18" charset="0"/>
              </a:rPr>
              <a:t>, and M. Alsharif, “A Review of Indoor Localization Techniques and Wireless Technologies,” </a:t>
            </a:r>
            <a:r>
              <a:rPr lang="en-IN" i="1" dirty="0">
                <a:latin typeface="Times New Roman" panose="02020603050405020304" pitchFamily="18" charset="0"/>
                <a:cs typeface="Times New Roman" panose="02020603050405020304" pitchFamily="18" charset="0"/>
              </a:rPr>
              <a:t>Wireless Networks</a:t>
            </a:r>
            <a:r>
              <a:rPr lang="en-IN" dirty="0">
                <a:latin typeface="Times New Roman" panose="02020603050405020304" pitchFamily="18" charset="0"/>
                <a:cs typeface="Times New Roman" panose="02020603050405020304" pitchFamily="18" charset="0"/>
              </a:rPr>
              <a:t>, Springer, vol. 27, no. 7, pp. 4505–4527, 2021.</a:t>
            </a:r>
          </a:p>
          <a:p>
            <a:r>
              <a:rPr lang="en-IN" dirty="0">
                <a:latin typeface="Times New Roman" panose="02020603050405020304" pitchFamily="18" charset="0"/>
                <a:cs typeface="Times New Roman" panose="02020603050405020304" pitchFamily="18" charset="0"/>
              </a:rPr>
              <a:t>[4] M. Khelifi, A. </a:t>
            </a:r>
            <a:r>
              <a:rPr lang="en-IN" dirty="0" err="1">
                <a:latin typeface="Times New Roman" panose="02020603050405020304" pitchFamily="18" charset="0"/>
                <a:cs typeface="Times New Roman" panose="02020603050405020304" pitchFamily="18" charset="0"/>
              </a:rPr>
              <a:t>Bradai</a:t>
            </a:r>
            <a:r>
              <a:rPr lang="en-IN" dirty="0">
                <a:latin typeface="Times New Roman" panose="02020603050405020304" pitchFamily="18" charset="0"/>
                <a:cs typeface="Times New Roman" panose="02020603050405020304" pitchFamily="18" charset="0"/>
              </a:rPr>
              <a:t>, A. Benslimane, and M. Amjad, “Recent Advances and Challenges in Indoor Localization Systems,” </a:t>
            </a:r>
            <a:r>
              <a:rPr lang="en-IN" i="1" dirty="0">
                <a:latin typeface="Times New Roman" panose="02020603050405020304" pitchFamily="18" charset="0"/>
                <a:cs typeface="Times New Roman" panose="02020603050405020304" pitchFamily="18" charset="0"/>
              </a:rPr>
              <a:t>Sensors</a:t>
            </a:r>
            <a:r>
              <a:rPr lang="en-IN" dirty="0">
                <a:latin typeface="Times New Roman" panose="02020603050405020304" pitchFamily="18" charset="0"/>
                <a:cs typeface="Times New Roman" panose="02020603050405020304" pitchFamily="18" charset="0"/>
              </a:rPr>
              <a:t>, MDPI, vol. 22, no. 3, Art. no. 1121, 2022.</a:t>
            </a:r>
          </a:p>
          <a:p>
            <a:r>
              <a:rPr lang="en-IN" dirty="0">
                <a:latin typeface="Times New Roman" panose="02020603050405020304" pitchFamily="18" charset="0"/>
                <a:cs typeface="Times New Roman" panose="02020603050405020304" pitchFamily="18" charset="0"/>
              </a:rPr>
              <a:t>[5] S. Subedi, M. K. Mishra, and S. Y. Nam, “Indoor Positioning Technologies for Smart Environments,” </a:t>
            </a:r>
            <a:r>
              <a:rPr lang="en-IN" i="1" dirty="0">
                <a:latin typeface="Times New Roman" panose="02020603050405020304" pitchFamily="18" charset="0"/>
                <a:cs typeface="Times New Roman" panose="02020603050405020304" pitchFamily="18" charset="0"/>
              </a:rPr>
              <a:t>Applied Sciences</a:t>
            </a:r>
            <a:r>
              <a:rPr lang="en-IN" dirty="0">
                <a:latin typeface="Times New Roman" panose="02020603050405020304" pitchFamily="18" charset="0"/>
                <a:cs typeface="Times New Roman" panose="02020603050405020304" pitchFamily="18" charset="0"/>
              </a:rPr>
              <a:t>, MDPI, vol. 12, no. 3, Art. no. 1440, 2022.</a:t>
            </a:r>
          </a:p>
          <a:p>
            <a:r>
              <a:rPr lang="en-IN" dirty="0">
                <a:latin typeface="Times New Roman" panose="02020603050405020304" pitchFamily="18" charset="0"/>
                <a:cs typeface="Times New Roman" panose="02020603050405020304" pitchFamily="18" charset="0"/>
              </a:rPr>
              <a:t>[6] J. Liu, Y. Chen, and X. Wang, “Performance Evaluation of UWB Indoor Localization under Multipath Conditions,” </a:t>
            </a:r>
            <a:r>
              <a:rPr lang="en-IN" i="1" dirty="0">
                <a:latin typeface="Times New Roman" panose="02020603050405020304" pitchFamily="18" charset="0"/>
                <a:cs typeface="Times New Roman" panose="02020603050405020304" pitchFamily="18" charset="0"/>
              </a:rPr>
              <a:t>Sensors</a:t>
            </a:r>
            <a:r>
              <a:rPr lang="en-IN" dirty="0">
                <a:latin typeface="Times New Roman" panose="02020603050405020304" pitchFamily="18" charset="0"/>
                <a:cs typeface="Times New Roman" panose="02020603050405020304" pitchFamily="18" charset="0"/>
              </a:rPr>
              <a:t>, MDPI, vol. 22, no. 18, Art. no. 6945, 2022.</a:t>
            </a:r>
          </a:p>
          <a:p>
            <a:r>
              <a:rPr lang="en-IN" dirty="0">
                <a:latin typeface="Times New Roman" panose="02020603050405020304" pitchFamily="18" charset="0"/>
                <a:cs typeface="Times New Roman" panose="02020603050405020304" pitchFamily="18" charset="0"/>
              </a:rPr>
              <a:t>[7] J. Yang, L. Zhang, and H. Li, “UWB Indoor Positioning System Based on TOF and Kalman Filtering,” </a:t>
            </a:r>
            <a:r>
              <a:rPr lang="en-IN" i="1" dirty="0">
                <a:latin typeface="Times New Roman" panose="02020603050405020304" pitchFamily="18" charset="0"/>
                <a:cs typeface="Times New Roman" panose="02020603050405020304" pitchFamily="18" charset="0"/>
              </a:rPr>
              <a:t>Sensors</a:t>
            </a:r>
            <a:r>
              <a:rPr lang="en-IN" dirty="0">
                <a:latin typeface="Times New Roman" panose="02020603050405020304" pitchFamily="18" charset="0"/>
                <a:cs typeface="Times New Roman" panose="02020603050405020304" pitchFamily="18" charset="0"/>
              </a:rPr>
              <a:t>, MDPI, vol. 23, no. 5, Art. no. 2559, 2023.</a:t>
            </a:r>
          </a:p>
          <a:p>
            <a:r>
              <a:rPr lang="en-IN" dirty="0">
                <a:latin typeface="Times New Roman" panose="02020603050405020304" pitchFamily="18" charset="0"/>
                <a:cs typeface="Times New Roman" panose="02020603050405020304" pitchFamily="18" charset="0"/>
              </a:rPr>
              <a:t>[8] W.-P. Lin and Y.-S. Lu, “A High-Precision UWB-Based Indoor Positioning System Using TOA,” </a:t>
            </a:r>
            <a:r>
              <a:rPr lang="en-IN" i="1" dirty="0">
                <a:latin typeface="Times New Roman" panose="02020603050405020304" pitchFamily="18" charset="0"/>
                <a:cs typeface="Times New Roman" panose="02020603050405020304" pitchFamily="18" charset="0"/>
              </a:rPr>
              <a:t>Algorithms</a:t>
            </a:r>
            <a:r>
              <a:rPr lang="en-IN" dirty="0">
                <a:latin typeface="Times New Roman" panose="02020603050405020304" pitchFamily="18" charset="0"/>
                <a:cs typeface="Times New Roman" panose="02020603050405020304" pitchFamily="18" charset="0"/>
              </a:rPr>
              <a:t>, MDPI, vol. 18, no. 7, Art. no. 438, 2025.</a:t>
            </a:r>
          </a:p>
          <a:p>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14630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2131</TotalTime>
  <Words>3101</Words>
  <Application>Microsoft Office PowerPoint</Application>
  <PresentationFormat>On-screen Show (4:3)</PresentationFormat>
  <Paragraphs>467</Paragraphs>
  <Slides>31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Calibri Light</vt:lpstr>
      <vt:lpstr>Constantia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AMBAR ROY</cp:lastModifiedBy>
  <cp:revision>33</cp:revision>
  <dcterms:created xsi:type="dcterms:W3CDTF">2025-11-06T10:03:11Z</dcterms:created>
  <dcterms:modified xsi:type="dcterms:W3CDTF">2026-10-01T18:35:31Z</dcterms:modified>
</cp:coreProperties>
</file>